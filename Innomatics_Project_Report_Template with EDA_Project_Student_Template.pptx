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70" r:id="rId6"/>
    <p:sldId id="260" r:id="rId7"/>
    <p:sldId id="261" r:id="rId8"/>
    <p:sldId id="262" r:id="rId9"/>
    <p:sldId id="263" r:id="rId10"/>
    <p:sldId id="264" r:id="rId11"/>
    <p:sldId id="271" r:id="rId12"/>
    <p:sldId id="354" r:id="rId13"/>
    <p:sldId id="362" r:id="rId14"/>
    <p:sldId id="355" r:id="rId15"/>
    <p:sldId id="359" r:id="rId16"/>
    <p:sldId id="356" r:id="rId17"/>
    <p:sldId id="319" r:id="rId18"/>
    <p:sldId id="360" r:id="rId19"/>
    <p:sldId id="357" r:id="rId20"/>
    <p:sldId id="358" r:id="rId21"/>
    <p:sldId id="363" r:id="rId22"/>
    <p:sldId id="348" r:id="rId23"/>
    <p:sldId id="353" r:id="rId24"/>
    <p:sldId id="349" r:id="rId25"/>
    <p:sldId id="350" r:id="rId26"/>
    <p:sldId id="351" r:id="rId27"/>
    <p:sldId id="259" r:id="rId28"/>
  </p:sldIdLst>
  <p:sldSz cx="12192000" cy="6858000"/>
  <p:notesSz cx="6858000" cy="9144000"/>
  <p:embeddedFontLst>
    <p:embeddedFont>
      <p:font typeface="SimSun" panose="02010600030101010101" pitchFamily="2" charset="-122"/>
      <p:regular r:id="rId32"/>
    </p:embeddedFont>
    <p:embeddedFont>
      <p:font typeface="Calibri" panose="020F0502020204030204"/>
      <p:regular r:id="rId33"/>
      <p:bold r:id="rId34"/>
      <p:italic r:id="rId35"/>
      <p:boldItalic r:id="rId36"/>
    </p:embeddedFont>
    <p:embeddedFont>
      <p:font typeface="Lato Black" panose="020F0802020204030203"/>
      <p:bold r:id="rId37"/>
      <p:boldItalic r:id="rId38"/>
    </p:embeddedFont>
    <p:embeddedFont>
      <p:font typeface="Berlin Sans FB Demi" panose="020E0802020502020306" charset="0"/>
      <p:bold r:id="rId39"/>
    </p:embeddedFont>
    <p:embeddedFont>
      <p:font typeface="Bodoni MT Black" panose="02070A03080606020203" charset="0"/>
      <p:bold r:id="rId40"/>
    </p:embeddedFont>
    <p:embeddedFont>
      <p:font typeface="Libre Baskerville" panose="02000000000000000000"/>
      <p:regular r:id="rId41"/>
    </p:embeddedFont>
    <p:embeddedFont>
      <p:font typeface="Calibri" panose="020F050202020403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Default Section" id="{d8160be1-31cd-4e15-b18b-e7a86b014f1b}">
          <p14:sldIdLst>
            <p14:sldId id="256"/>
            <p14:sldId id="257"/>
            <p14:sldId id="270"/>
            <p14:sldId id="260"/>
            <p14:sldId id="261"/>
            <p14:sldId id="262"/>
          </p14:sldIdLst>
        </p14:section>
        <p14:section name="Untitled Section" id="{e01636bb-c862-4765-b534-c7d0e50fff46}">
          <p14:sldIdLst>
            <p14:sldId id="263"/>
            <p14:sldId id="264"/>
            <p14:sldId id="271"/>
            <p14:sldId id="354"/>
            <p14:sldId id="362"/>
            <p14:sldId id="355"/>
            <p14:sldId id="359"/>
            <p14:sldId id="356"/>
            <p14:sldId id="319"/>
            <p14:sldId id="360"/>
            <p14:sldId id="357"/>
            <p14:sldId id="358"/>
            <p14:sldId id="363"/>
            <p14:sldId id="348"/>
            <p14:sldId id="353"/>
            <p14:sldId id="349"/>
            <p14:sldId id="350"/>
            <p14:sldId id="351"/>
            <p14:sldId id="25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font" Target="fonts/font14.fntdata"/><Relationship Id="rId44" Type="http://schemas.openxmlformats.org/officeDocument/2006/relationships/font" Target="fonts/font13.fntdata"/><Relationship Id="rId43" Type="http://schemas.openxmlformats.org/officeDocument/2006/relationships/font" Target="fonts/font12.fntdata"/><Relationship Id="rId42" Type="http://schemas.openxmlformats.org/officeDocument/2006/relationships/font" Target="fonts/font11.fntdata"/><Relationship Id="rId41" Type="http://schemas.openxmlformats.org/officeDocument/2006/relationships/font" Target="fonts/font10.fntdata"/><Relationship Id="rId40" Type="http://schemas.openxmlformats.org/officeDocument/2006/relationships/font" Target="fonts/font9.fntdata"/><Relationship Id="rId4" Type="http://schemas.openxmlformats.org/officeDocument/2006/relationships/notesMaster" Target="notesMasters/notesMaster1.xml"/><Relationship Id="rId39" Type="http://schemas.openxmlformats.org/officeDocument/2006/relationships/font" Target="fonts/font8.fntdata"/><Relationship Id="rId38" Type="http://schemas.openxmlformats.org/officeDocument/2006/relationships/font" Target="fonts/font7.fntdata"/><Relationship Id="rId37" Type="http://schemas.openxmlformats.org/officeDocument/2006/relationships/font" Target="fonts/font6.fntdata"/><Relationship Id="rId36" Type="http://schemas.openxmlformats.org/officeDocument/2006/relationships/font" Target="fonts/font5.fntdata"/><Relationship Id="rId35" Type="http://schemas.openxmlformats.org/officeDocument/2006/relationships/font" Target="fonts/font4.fntdata"/><Relationship Id="rId34" Type="http://schemas.openxmlformats.org/officeDocument/2006/relationships/font" Target="fonts/font3.fntdata"/><Relationship Id="rId33" Type="http://schemas.openxmlformats.org/officeDocument/2006/relationships/font" Target="fonts/font2.fntdata"/><Relationship Id="rId32" Type="http://schemas.openxmlformats.org/officeDocument/2006/relationships/font" Target="fonts/font1.fntdata"/><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94" name="Shape 94"/>
        <p:cNvGrpSpPr/>
        <p:nvPr/>
      </p:nvGrpSpPr>
      <p:grpSpPr>
        <a:xfrm>
          <a:off x="0" y="0"/>
          <a:ext cx="0" cy="0"/>
          <a:chOff x="0" y="0"/>
          <a:chExt cx="0" cy="0"/>
        </a:xfrm>
      </p:grpSpPr>
      <p:sp>
        <p:nvSpPr>
          <p:cNvPr id="95" name="Google Shape;95;p1: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p>
        </p:txBody>
      </p:sp>
      <p:sp>
        <p:nvSpPr>
          <p:cNvPr id="96" name="Google Shape;96;p1: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0" name="Shape 100"/>
        <p:cNvGrpSpPr/>
        <p:nvPr/>
      </p:nvGrpSpPr>
      <p:grpSpPr>
        <a:xfrm>
          <a:off x="0" y="0"/>
          <a:ext cx="0" cy="0"/>
          <a:chOff x="0" y="0"/>
          <a:chExt cx="0" cy="0"/>
        </a:xfrm>
      </p:grpSpPr>
      <p:sp>
        <p:nvSpPr>
          <p:cNvPr id="101" name="Google Shape;101;p3:notes"/>
          <p:cNvSpPr txBox="1"/>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2" name="Google Shape;102;p3: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5:notes"/>
          <p:cNvSpPr txBox="1"/>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panose="020F0502020204030204"/>
              <a:buNone/>
            </a:pPr>
          </a:p>
        </p:txBody>
      </p:sp>
      <p:sp>
        <p:nvSpPr>
          <p:cNvPr id="114" name="Google Shape;114;p5:notes"/>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p:txBody>
      </p:sp>
      <p:sp>
        <p:nvSpPr>
          <p:cNvPr id="5" name="Footer Placeholder 4"/>
          <p:cNvSpPr>
            <a:spLocks noGrp="1"/>
          </p:cNvSpPr>
          <p:nvPr>
            <p:ph type="ftr" sz="quarter" idx="11"/>
          </p:nvPr>
        </p:nvSpPr>
        <p:spPr/>
        <p:txBody>
          <a:bodyPr/>
          <a:p/>
        </p:txBody>
      </p:sp>
      <p:sp>
        <p:nvSpPr>
          <p:cNvPr id="6" name="Slide Number Placeholder 5"/>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p:txBody>
      </p:sp>
      <p:sp>
        <p:nvSpPr>
          <p:cNvPr id="5" name="Footer Placeholder 4"/>
          <p:cNvSpPr>
            <a:spLocks noGrp="1"/>
          </p:cNvSpPr>
          <p:nvPr>
            <p:ph type="ftr" sz="quarter" idx="11"/>
          </p:nvPr>
        </p:nvSpPr>
        <p:spPr/>
        <p:txBody>
          <a:bodyPr/>
          <a:p/>
        </p:txBody>
      </p:sp>
      <p:sp>
        <p:nvSpPr>
          <p:cNvPr id="6" name="Slide Number Placeholder 5"/>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p:txBody>
      </p:sp>
      <p:sp>
        <p:nvSpPr>
          <p:cNvPr id="6" name="Footer Placeholder 5"/>
          <p:cNvSpPr>
            <a:spLocks noGrp="1"/>
          </p:cNvSpPr>
          <p:nvPr>
            <p:ph type="ftr" sz="quarter" idx="11"/>
          </p:nvPr>
        </p:nvSpPr>
        <p:spPr/>
        <p:txBody>
          <a:bodyPr/>
          <a:p/>
        </p:txBody>
      </p:sp>
      <p:sp>
        <p:nvSpPr>
          <p:cNvPr id="7" name="Slide Number Placeholder 6"/>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p:txBody>
      </p:sp>
      <p:sp>
        <p:nvSpPr>
          <p:cNvPr id="8" name="Footer Placeholder 7"/>
          <p:cNvSpPr>
            <a:spLocks noGrp="1"/>
          </p:cNvSpPr>
          <p:nvPr>
            <p:ph type="ftr" sz="quarter" idx="11"/>
          </p:nvPr>
        </p:nvSpPr>
        <p:spPr/>
        <p:txBody>
          <a:bodyPr/>
          <a:p/>
        </p:txBody>
      </p:sp>
      <p:sp>
        <p:nvSpPr>
          <p:cNvPr id="9" name="Slide Number Placeholder 8"/>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p:txBody>
      </p:sp>
      <p:sp>
        <p:nvSpPr>
          <p:cNvPr id="4" name="Footer Placeholder 3"/>
          <p:cNvSpPr>
            <a:spLocks noGrp="1"/>
          </p:cNvSpPr>
          <p:nvPr>
            <p:ph type="ftr" sz="quarter" idx="11"/>
          </p:nvPr>
        </p:nvSpPr>
        <p:spPr/>
        <p:txBody>
          <a:bodyPr/>
          <a:p/>
        </p:txBody>
      </p:sp>
      <p:sp>
        <p:nvSpPr>
          <p:cNvPr id="5" name="Slide Number Placeholder 4"/>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p:txBody>
      </p:sp>
      <p:sp>
        <p:nvSpPr>
          <p:cNvPr id="3" name="Footer Placeholder 2"/>
          <p:cNvSpPr>
            <a:spLocks noGrp="1"/>
          </p:cNvSpPr>
          <p:nvPr>
            <p:ph type="ftr" sz="quarter" idx="11"/>
          </p:nvPr>
        </p:nvSpPr>
        <p:spPr/>
        <p:txBody>
          <a:bodyPr/>
          <a:p/>
        </p:txBody>
      </p:sp>
      <p:sp>
        <p:nvSpPr>
          <p:cNvPr id="4" name="Slide Number Placeholder 3"/>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p:txBody>
      </p:sp>
      <p:sp>
        <p:nvSpPr>
          <p:cNvPr id="6" name="Footer Placeholder 5"/>
          <p:cNvSpPr>
            <a:spLocks noGrp="1"/>
          </p:cNvSpPr>
          <p:nvPr>
            <p:ph type="ftr" sz="quarter" idx="11"/>
          </p:nvPr>
        </p:nvSpPr>
        <p:spPr/>
        <p:txBody>
          <a:bodyPr/>
          <a:p/>
        </p:txBody>
      </p:sp>
      <p:sp>
        <p:nvSpPr>
          <p:cNvPr id="7" name="Slide Number Placeholder 6"/>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p:txBody>
      </p:sp>
      <p:sp>
        <p:nvSpPr>
          <p:cNvPr id="6" name="Footer Placeholder 5"/>
          <p:cNvSpPr>
            <a:spLocks noGrp="1"/>
          </p:cNvSpPr>
          <p:nvPr>
            <p:ph type="ftr" sz="quarter" idx="11"/>
          </p:nvPr>
        </p:nvSpPr>
        <p:spPr/>
        <p:txBody>
          <a:bodyPr/>
          <a:p/>
        </p:txBody>
      </p:sp>
      <p:sp>
        <p:nvSpPr>
          <p:cNvPr id="7" name="Slide Number Placeholder 6"/>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p:txBody>
      </p:sp>
      <p:sp>
        <p:nvSpPr>
          <p:cNvPr id="5" name="Footer Placeholder 4"/>
          <p:cNvSpPr>
            <a:spLocks noGrp="1"/>
          </p:cNvSpPr>
          <p:nvPr>
            <p:ph type="ftr" sz="quarter" idx="11"/>
          </p:nvPr>
        </p:nvSpPr>
        <p:spPr/>
        <p:txBody>
          <a:bodyPr/>
          <a:p/>
        </p:txBody>
      </p:sp>
      <p:sp>
        <p:nvSpPr>
          <p:cNvPr id="6" name="Slide Number Placeholder 5"/>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p:txBody>
      </p:sp>
      <p:sp>
        <p:nvSpPr>
          <p:cNvPr id="5" name="Footer Placeholder 4"/>
          <p:cNvSpPr>
            <a:spLocks noGrp="1"/>
          </p:cNvSpPr>
          <p:nvPr>
            <p:ph type="ftr" sz="quarter" idx="11"/>
          </p:nvPr>
        </p:nvSpPr>
        <p:spPr/>
        <p:txBody>
          <a:bodyPr/>
          <a:p/>
        </p:txBody>
      </p:sp>
      <p:sp>
        <p:nvSpPr>
          <p:cNvPr id="6" name="Slide Number Placeholder 5"/>
          <p:cNvSpPr>
            <a:spLocks noGrp="1"/>
          </p:cNvSpPr>
          <p:nvPr>
            <p:ph type="sldNum" sz="quarter" idx="12"/>
          </p:nvPr>
        </p:nvSpPr>
        <p:spPr/>
        <p:txBody>
          <a:bodyPr/>
          <a:p>
            <a:pPr marL="0" lvl="0" indent="0" algn="r" rtl="0">
              <a:spcBef>
                <a:spcPts val="0"/>
              </a:spcBef>
              <a:spcAft>
                <a:spcPts val="0"/>
              </a:spcAft>
              <a:buNone/>
            </a:pPr>
            <a:fld id="{00000000-1234-1234-1234-123412341234}" type="slidenum">
              <a:rPr lang="en-IN"/>
            </a:fld>
            <a:endParaRPr lang="en-IN"/>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a:lstStyle>
            <a:lvl1pPr algn="ctr">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3"/>
          <p:cNvPicPr>
            <a:picLocks noChangeAspect="1"/>
          </p:cNvPicPr>
          <p:nvPr/>
        </p:nvPicPr>
        <p:blipFill>
          <a:blip r:embed="rId13"/>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marL="0" lvl="0" indent="0" algn="r" rtl="0">
              <a:spcBef>
                <a:spcPts val="0"/>
              </a:spcBef>
              <a:spcAft>
                <a:spcPts val="0"/>
              </a:spcAft>
              <a:buNone/>
            </a:pPr>
            <a:fld id="{00000000-1234-1234-1234-123412341234}" type="slidenum">
              <a:rPr lang="en-IN"/>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9.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2.png"/><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7.png"/><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7" name="Shape 97"/>
        <p:cNvGrpSpPr/>
        <p:nvPr/>
      </p:nvGrpSpPr>
      <p:grpSpPr>
        <a:xfrm>
          <a:off x="0" y="0"/>
          <a:ext cx="0" cy="0"/>
          <a:chOff x="0" y="0"/>
          <a:chExt cx="0" cy="0"/>
        </a:xfrm>
      </p:grpSpPr>
      <p:sp>
        <p:nvSpPr>
          <p:cNvPr id="10" name="Title 9"/>
          <p:cNvSpPr/>
          <p:nvPr>
            <p:ph type="title"/>
          </p:nvPr>
        </p:nvSpPr>
        <p:spPr/>
        <p:txBody>
          <a:bodyPr/>
          <a:p>
            <a:endParaRPr lang="en-US"/>
          </a:p>
        </p:txBody>
      </p:sp>
      <p:pic>
        <p:nvPicPr>
          <p:cNvPr id="98" name="Google Shape;98;p1"/>
          <p:cNvPicPr preferRelativeResize="0"/>
          <p:nvPr/>
        </p:nvPicPr>
        <p:blipFill rotWithShape="1">
          <a:blip r:embed="rId1"/>
          <a:srcRect/>
          <a:stretch>
            <a:fillRect/>
          </a:stretch>
        </p:blipFill>
        <p:spPr>
          <a:xfrm>
            <a:off x="46990" y="0"/>
            <a:ext cx="12190730" cy="6753860"/>
          </a:xfrm>
          <a:prstGeom prst="rect">
            <a:avLst/>
          </a:prstGeom>
          <a:noFill/>
          <a:ln>
            <a:noFill/>
          </a:ln>
        </p:spPr>
      </p:pic>
      <p:sp>
        <p:nvSpPr>
          <p:cNvPr id="11" name="Text Placeholder 10"/>
          <p:cNvSpPr/>
          <p:nvPr>
            <p:ph type="body" idx="1"/>
          </p:nvPr>
        </p:nvSpPr>
        <p:spPr/>
        <p:txBody>
          <a:bodyPr/>
          <a:p>
            <a:endParaRPr lang="en-US"/>
          </a:p>
        </p:txBody>
      </p:sp>
      <p:sp>
        <p:nvSpPr>
          <p:cNvPr id="99" name="Google Shape;99;p1"/>
          <p:cNvSpPr txBox="1"/>
          <p:nvPr/>
        </p:nvSpPr>
        <p:spPr>
          <a:xfrm>
            <a:off x="2712299" y="4005006"/>
            <a:ext cx="7246189" cy="36703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alt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t>Body Lotion Dataset – Exploratory Data Analysis (EDA)</a:t>
            </a:r>
            <a:endParaRPr lang="en-US" alt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9" name="Picture Placeholder 8"/>
          <p:cNvPicPr/>
          <p:nvPr>
            <p:ph type="pic" idx="2"/>
          </p:nvPr>
        </p:nvPicPr>
        <p:blipFill>
          <a:blip r:embed="rId2"/>
          <a:srcRect l="34240" r="34240"/>
          <a:stretch>
            <a:fillRect/>
          </a:stretch>
        </p:blipFill>
        <p:spPr>
          <a:xfrm>
            <a:off x="4432300" y="4645025"/>
            <a:ext cx="3323590" cy="1814830"/>
          </a:xfrm>
          <a:prstGeom prst="rect">
            <a:avLst/>
          </a:prstGeom>
        </p:spPr>
      </p:pic>
      <p:pic>
        <p:nvPicPr>
          <p:cNvPr id="12" name="Picture 11"/>
          <p:cNvPicPr/>
          <p:nvPr/>
        </p:nvPicPr>
        <p:blipFill>
          <a:blip r:embed="rId3"/>
          <a:stretch>
            <a:fillRect/>
          </a:stretch>
        </p:blipFill>
        <p:spPr>
          <a:xfrm>
            <a:off x="1126808" y="3068955"/>
            <a:ext cx="2143125" cy="2133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3" name="Shape 103"/>
        <p:cNvGrpSpPr/>
        <p:nvPr/>
      </p:nvGrpSpPr>
      <p:grpSpPr>
        <a:xfrm>
          <a:off x="0" y="0"/>
          <a:ext cx="0" cy="0"/>
          <a:chOff x="0" y="0"/>
          <a:chExt cx="0" cy="0"/>
        </a:xfrm>
      </p:grpSpPr>
      <p:sp>
        <p:nvSpPr>
          <p:cNvPr id="104" name="Google Shape;104;p3"/>
          <p:cNvSpPr txBox="1"/>
          <p:nvPr/>
        </p:nvSpPr>
        <p:spPr>
          <a:xfrm>
            <a:off x="737812" y="1299172"/>
            <a:ext cx="7007400" cy="6368415"/>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dk1"/>
              </a:buClr>
              <a:buSzPts val="1800"/>
              <a:buFont typeface="Arial" panose="020B0604020202020204"/>
              <a:buChar char="•"/>
            </a:pPr>
            <a:r>
              <a:rPr lang="en-US" altLang="en-IN" sz="2400" i="0" u="none" strike="noStrike" cap="none">
                <a:solidFill>
                  <a:schemeClr val="dk1"/>
                </a:solidFill>
                <a:latin typeface="Calibri" panose="020F0502020204030204"/>
                <a:ea typeface="Calibri" panose="020F0502020204030204"/>
                <a:cs typeface="Calibri" panose="020F0502020204030204"/>
                <a:sym typeface="Calibri" panose="020F0502020204030204"/>
              </a:rPr>
              <a:t>MySelf Neha Polapally, I have completed B.com General in 2023 from A.V college</a:t>
            </a:r>
            <a:endParaRPr lang="en-US" altLang="en-IN" sz="24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endParaRPr sz="24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altLang="en-US" sz="2400" i="0" u="none" strike="noStrike" cap="none">
                <a:solidFill>
                  <a:schemeClr val="dk1"/>
                </a:solidFill>
                <a:latin typeface="Calibri" panose="020F0502020204030204"/>
                <a:ea typeface="Calibri" panose="020F0502020204030204"/>
                <a:cs typeface="Calibri" panose="020F0502020204030204"/>
                <a:sym typeface="Calibri" panose="020F0502020204030204"/>
              </a:rPr>
              <a:t>It offers high-demand, well-paying jobs across many industries, provides valuable analytical and problem-solving skills applicable to personal and professional growth, empowers you to drive innovation and make informed decisions, and allows you to contribute to addressing major societal challenges. The field provides robust career opportunities with high growth potential and flexibility. </a:t>
            </a:r>
            <a:endParaRPr lang="en-US" altLang="en-US" sz="24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endParaRPr lang="en-US" altLang="en-US" sz="24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2400" i="0" u="none" strike="noStrike" cap="none">
                <a:solidFill>
                  <a:schemeClr val="dk1"/>
                </a:solidFill>
                <a:latin typeface="Calibri" panose="020F0502020204030204"/>
                <a:ea typeface="Calibri" panose="020F0502020204030204"/>
                <a:cs typeface="Calibri" panose="020F0502020204030204"/>
                <a:sym typeface="Calibri" panose="020F0502020204030204"/>
              </a:rPr>
              <a:t>Process Executive Data(9 Months) at Cognizant Present.</a:t>
            </a:r>
            <a:endParaRPr lang="en-US" sz="24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r>
              <a:rPr lang="en-US" sz="2400" i="0" u="none" strike="noStrike" cap="none">
                <a:solidFill>
                  <a:schemeClr val="dk1"/>
                </a:solidFill>
                <a:latin typeface="Calibri" panose="020F0502020204030204"/>
                <a:ea typeface="Calibri" panose="020F0502020204030204"/>
                <a:cs typeface="Calibri" panose="020F0502020204030204"/>
                <a:sym typeface="Calibri" panose="020F0502020204030204"/>
              </a:rPr>
              <a:t>Associate Analyst at Deloitte.</a:t>
            </a:r>
            <a:endParaRPr lang="en-US" sz="24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285750" marR="0" lvl="0" indent="-285750" algn="l" rtl="0">
              <a:spcBef>
                <a:spcPts val="0"/>
              </a:spcBef>
              <a:spcAft>
                <a:spcPts val="0"/>
              </a:spcAft>
              <a:buClr>
                <a:schemeClr val="dk1"/>
              </a:buClr>
              <a:buSzPts val="1800"/>
              <a:buFont typeface="Arial" panose="020B0604020202020204"/>
              <a:buChar char="•"/>
            </a:pPr>
            <a:endParaRPr sz="240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spcBef>
                <a:spcPts val="0"/>
              </a:spcBef>
              <a:spcAft>
                <a:spcPts val="0"/>
              </a:spcAft>
              <a:buClr>
                <a:schemeClr val="dk1"/>
              </a:buClr>
              <a:buSzPts val="1800"/>
              <a:buFont typeface="Calibri" panose="020F0502020204030204"/>
              <a:buNone/>
            </a:pPr>
            <a:endParaRPr sz="24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panose="020F0802020204030203"/>
              <a:buNone/>
            </a:pPr>
            <a:r>
              <a:rPr lang="en-IN" sz="3200" b="0" i="0" u="none" strike="noStrike" cap="none">
                <a:solidFill>
                  <a:srgbClr val="FF0000"/>
                </a:solidFill>
                <a:latin typeface="Lato Black" panose="020F0802020204030203"/>
                <a:ea typeface="Lato Black" panose="020F0802020204030203"/>
                <a:cs typeface="Lato Black" panose="020F0802020204030203"/>
                <a:sym typeface="Lato Black" panose="020F0802020204030203"/>
              </a:rPr>
              <a:t>About me</a:t>
            </a:r>
            <a:endParaRPr sz="1800" b="0" i="0" u="none" strike="noStrike" cap="none">
              <a:solidFill>
                <a:srgbClr val="FF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840105" y="457200"/>
            <a:ext cx="8852535" cy="1600200"/>
          </a:xfrm>
        </p:spPr>
        <p:txBody>
          <a:bodyPr/>
          <a:p>
            <a:pPr algn="ctr"/>
            <a:r>
              <a:rPr lang="en-US" altLang="en-US" sz="6000">
                <a:latin typeface="Berlin Sans FB Demi" panose="020E0802020502020306" charset="0"/>
                <a:cs typeface="Berlin Sans FB Demi" panose="020E0802020502020306" charset="0"/>
                <a:sym typeface="+mn-ea"/>
              </a:rPr>
              <a:t>Problem Statement</a:t>
            </a:r>
            <a:endParaRPr lang="en-US" sz="6000"/>
          </a:p>
        </p:txBody>
      </p:sp>
      <p:sp>
        <p:nvSpPr>
          <p:cNvPr id="3" name="Text Placeholder 2"/>
          <p:cNvSpPr/>
          <p:nvPr>
            <p:ph type="body" idx="1"/>
          </p:nvPr>
        </p:nvSpPr>
        <p:spPr>
          <a:xfrm>
            <a:off x="84455" y="2057400"/>
            <a:ext cx="12603480" cy="4634230"/>
          </a:xfrm>
        </p:spPr>
        <p:txBody>
          <a:bodyPr/>
          <a:p>
            <a:endParaRPr lang="en-US" altLang="en-US"/>
          </a:p>
          <a:p>
            <a:r>
              <a:rPr lang="en-US" altLang="en-US"/>
              <a:t>C</a:t>
            </a:r>
            <a:r>
              <a:rPr lang="en-US" altLang="en-US" sz="2400"/>
              <a:t>ustomers choose products based on price, reviews, and brand.</a:t>
            </a:r>
            <a:endParaRPr lang="en-US" altLang="en-US" sz="2400"/>
          </a:p>
          <a:p>
            <a:endParaRPr lang="en-US" altLang="en-US" sz="2400"/>
          </a:p>
          <a:p>
            <a:r>
              <a:rPr lang="en-US" altLang="en-US" sz="2400"/>
              <a:t>Analyze how price, discounts, and ratings influence customer choice.</a:t>
            </a:r>
            <a:endParaRPr lang="en-US" altLang="en-US" sz="2400"/>
          </a:p>
          <a:p>
            <a:endParaRPr lang="en-US" altLang="en-US" sz="2400"/>
          </a:p>
          <a:p>
            <a:r>
              <a:rPr lang="en-US" altLang="en-US" sz="2400"/>
              <a:t>Identify patterns and insights to optimize pricing and marketing strategies</a:t>
            </a:r>
            <a:endParaRPr lang="en-US" alt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463550" y="190500"/>
            <a:ext cx="11118850" cy="1155065"/>
          </a:xfrm>
        </p:spPr>
        <p:txBody>
          <a:bodyPr/>
          <a:p>
            <a:pPr algn="ctr"/>
            <a:r>
              <a:rPr lang="en-US" altLang="en-US" sz="6600">
                <a:latin typeface="Berlin Sans FB Demi" panose="020E0802020502020306" charset="0"/>
                <a:cs typeface="Berlin Sans FB Demi" panose="020E0802020502020306" charset="0"/>
              </a:rPr>
              <a:t>Objective of the Project</a:t>
            </a:r>
            <a:endParaRPr lang="en-US" altLang="en-US" sz="6600">
              <a:latin typeface="Berlin Sans FB Demi" panose="020E0802020502020306" charset="0"/>
              <a:cs typeface="Berlin Sans FB Demi" panose="020E0802020502020306" charset="0"/>
            </a:endParaRPr>
          </a:p>
        </p:txBody>
      </p:sp>
      <p:sp>
        <p:nvSpPr>
          <p:cNvPr id="3" name="Text Placeholder 2"/>
          <p:cNvSpPr/>
          <p:nvPr>
            <p:ph type="body" idx="1"/>
          </p:nvPr>
        </p:nvSpPr>
        <p:spPr>
          <a:xfrm>
            <a:off x="609600" y="1818005"/>
            <a:ext cx="10972800" cy="4309745"/>
          </a:xfrm>
        </p:spPr>
        <p:txBody>
          <a:bodyPr>
            <a:normAutofit/>
          </a:bodyPr>
          <a:p>
            <a:endParaRPr lang="en-US" altLang="en-US" sz="2400"/>
          </a:p>
          <a:p>
            <a:r>
              <a:rPr lang="en-US" altLang="en-US" sz="2400"/>
              <a:t>Collect data on body lotions from e-commerce websites.</a:t>
            </a:r>
            <a:endParaRPr lang="en-US" altLang="en-US" sz="2400"/>
          </a:p>
          <a:p>
            <a:endParaRPr lang="en-US" altLang="en-US" sz="2400"/>
          </a:p>
          <a:p>
            <a:r>
              <a:rPr lang="en-US" altLang="en-US" sz="2400"/>
              <a:t>Perform data cleaning and transformation.</a:t>
            </a:r>
            <a:endParaRPr lang="en-US" altLang="en-US" sz="2400"/>
          </a:p>
          <a:p>
            <a:endParaRPr lang="en-US" altLang="en-US" sz="2400"/>
          </a:p>
          <a:p>
            <a:r>
              <a:rPr lang="en-US" altLang="en-US" sz="2400"/>
              <a:t>Conduct EDA to extract insights on pricing, discounts, and brand competition.</a:t>
            </a:r>
            <a:endParaRPr lang="en-US" altLang="en-US" sz="2400"/>
          </a:p>
          <a:p>
            <a:endParaRPr lang="en-US" altLang="en-US" sz="2400"/>
          </a:p>
          <a:p>
            <a:r>
              <a:rPr lang="en-US" altLang="en-US" sz="2400"/>
              <a:t>Address key business questions: Which price ranges and discounts attract customers most?</a:t>
            </a:r>
            <a:endParaRPr lang="en-US"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p:txBody>
          <a:bodyPr/>
          <a:p>
            <a:pPr algn="ctr"/>
            <a:r>
              <a:rPr lang="en-US" altLang="en-US">
                <a:latin typeface="Berlin Sans FB Demi" panose="020E0802020502020306" charset="0"/>
                <a:cs typeface="Berlin Sans FB Demi" panose="020E0802020502020306" charset="0"/>
                <a:sym typeface="+mn-ea"/>
              </a:rPr>
              <a:t>Web Scraping (Details)</a:t>
            </a:r>
            <a:endParaRPr lang="en-US">
              <a:latin typeface="Berlin Sans FB Demi" panose="020E0802020502020306" charset="0"/>
              <a:cs typeface="Berlin Sans FB Demi" panose="020E0802020502020306" charset="0"/>
            </a:endParaRPr>
          </a:p>
        </p:txBody>
      </p:sp>
      <p:sp>
        <p:nvSpPr>
          <p:cNvPr id="3" name="Text Placeholder 2"/>
          <p:cNvSpPr/>
          <p:nvPr>
            <p:ph type="body" idx="1"/>
          </p:nvPr>
        </p:nvSpPr>
        <p:spPr>
          <a:xfrm>
            <a:off x="838200" y="1522095"/>
            <a:ext cx="10515600" cy="5342890"/>
          </a:xfrm>
        </p:spPr>
        <p:txBody>
          <a:bodyPr>
            <a:normAutofit lnSpcReduction="20000"/>
          </a:bodyPr>
          <a:p>
            <a:pPr algn="l"/>
            <a:r>
              <a:rPr lang="en-US" altLang="en-US" sz="2665"/>
              <a:t>Source Website: Nykaa (Body Lotion category).</a:t>
            </a:r>
            <a:endParaRPr lang="en-US" altLang="en-US" sz="2665"/>
          </a:p>
          <a:p>
            <a:pPr algn="l"/>
            <a:endParaRPr lang="en-US" altLang="en-US" sz="2665"/>
          </a:p>
          <a:p>
            <a:pPr algn="l"/>
            <a:r>
              <a:rPr lang="en-US" altLang="en-US" sz="2665"/>
              <a:t>Tools/Processor: Python, requests, BeautifulSoup, pandas,Numpy,Matplotlib,Seaborn</a:t>
            </a:r>
            <a:endParaRPr lang="en-US" altLang="en-US" sz="2665"/>
          </a:p>
          <a:p>
            <a:pPr algn="l"/>
            <a:endParaRPr lang="en-US" altLang="en-US" sz="2665"/>
          </a:p>
          <a:p>
            <a:pPr algn="l"/>
            <a:r>
              <a:rPr lang="en-US" altLang="en-US" sz="2665" b="1">
                <a:latin typeface="Bodoni MT Black" panose="02070A03080606020203" charset="0"/>
                <a:cs typeface="Bodoni MT Black" panose="02070A03080606020203" charset="0"/>
              </a:rPr>
              <a:t>Steps Followed:</a:t>
            </a:r>
            <a:endParaRPr lang="en-US" altLang="en-US" sz="2665" b="1">
              <a:latin typeface="Bodoni MT Black" panose="02070A03080606020203" charset="0"/>
              <a:cs typeface="Bodoni MT Black" panose="02070A03080606020203" charset="0"/>
            </a:endParaRPr>
          </a:p>
          <a:p>
            <a:pPr algn="l"/>
            <a:endParaRPr lang="en-US" altLang="en-US" sz="2665"/>
          </a:p>
          <a:p>
            <a:pPr algn="l"/>
            <a:r>
              <a:rPr lang="en-US" altLang="en-US" sz="2665"/>
              <a:t>Crawled product listing pages.</a:t>
            </a:r>
            <a:endParaRPr lang="en-US" altLang="en-US" sz="2665"/>
          </a:p>
          <a:p>
            <a:pPr algn="l"/>
            <a:endParaRPr lang="en-US" altLang="en-US" sz="2665"/>
          </a:p>
          <a:p>
            <a:pPr algn="l"/>
            <a:r>
              <a:rPr lang="en-US" altLang="en-US" sz="2665"/>
              <a:t>Extracted details → Product Name,  Price, Selling Price, Discount, Ratings.</a:t>
            </a:r>
            <a:endParaRPr lang="en-US" altLang="en-US" sz="2665"/>
          </a:p>
          <a:p>
            <a:pPr algn="l"/>
            <a:endParaRPr lang="en-US" altLang="en-US" sz="2665"/>
          </a:p>
          <a:p>
            <a:pPr algn="l"/>
            <a:r>
              <a:rPr lang="en-US" altLang="en-US" sz="2665"/>
              <a:t>Stored data in CSV for analysis.</a:t>
            </a:r>
            <a:endParaRPr lang="en-US" altLang="en-US" sz="266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609600" y="398145"/>
            <a:ext cx="10972800" cy="1340485"/>
          </a:xfrm>
        </p:spPr>
        <p:txBody>
          <a:bodyPr/>
          <a:p>
            <a:pPr algn="ctr"/>
            <a:r>
              <a:rPr lang="en-US" altLang="en-US" sz="4800">
                <a:latin typeface="Berlin Sans FB Demi" panose="020E0802020502020306" charset="0"/>
                <a:cs typeface="Berlin Sans FB Demi" panose="020E0802020502020306" charset="0"/>
              </a:rPr>
              <a:t>Summary of the Data</a:t>
            </a:r>
            <a:endParaRPr lang="en-US" altLang="en-US" sz="4800">
              <a:latin typeface="Berlin Sans FB Demi" panose="020E0802020502020306" charset="0"/>
              <a:cs typeface="Berlin Sans FB Demi" panose="020E0802020502020306" charset="0"/>
            </a:endParaRPr>
          </a:p>
        </p:txBody>
      </p:sp>
      <p:sp>
        <p:nvSpPr>
          <p:cNvPr id="3" name="Text Placeholder 2"/>
          <p:cNvSpPr/>
          <p:nvPr>
            <p:ph type="body" idx="1"/>
          </p:nvPr>
        </p:nvSpPr>
        <p:spPr>
          <a:xfrm>
            <a:off x="609600" y="1991360"/>
            <a:ext cx="10972800" cy="4451350"/>
          </a:xfrm>
        </p:spPr>
        <p:txBody>
          <a:bodyPr>
            <a:normAutofit/>
          </a:bodyPr>
          <a:p>
            <a:r>
              <a:rPr lang="en-US" altLang="en-US" sz="2400" b="1"/>
              <a:t>Records</a:t>
            </a:r>
            <a:r>
              <a:rPr lang="en-US" altLang="en-US" sz="2400"/>
              <a:t>: 784 products.</a:t>
            </a:r>
            <a:endParaRPr lang="en-US" altLang="en-US" sz="2400"/>
          </a:p>
          <a:p>
            <a:endParaRPr lang="en-US" altLang="en-US" sz="2400"/>
          </a:p>
          <a:p>
            <a:r>
              <a:rPr lang="en-US" altLang="en-US" sz="2400" b="1"/>
              <a:t>Features/Columns</a:t>
            </a:r>
            <a:r>
              <a:rPr lang="en-US" altLang="en-US" sz="2400"/>
              <a:t>: 8 (ProductName, Brand, Price, SellingPrice, Discount, Savings, PriceCategory, RatingCount).</a:t>
            </a:r>
            <a:endParaRPr lang="en-US" altLang="en-US" sz="2400"/>
          </a:p>
          <a:p>
            <a:endParaRPr lang="en-US" altLang="en-US" sz="2400"/>
          </a:p>
          <a:p>
            <a:r>
              <a:rPr lang="en-US" altLang="en-US" sz="2400" b="1"/>
              <a:t>Price range</a:t>
            </a:r>
            <a:r>
              <a:rPr lang="en-US" altLang="en-US" sz="2400"/>
              <a:t>: ₹100 – ₹1500.</a:t>
            </a:r>
            <a:endParaRPr lang="en-US" altLang="en-US" sz="2400"/>
          </a:p>
          <a:p>
            <a:endParaRPr lang="en-US" altLang="en-US" sz="2400"/>
          </a:p>
          <a:p>
            <a:r>
              <a:rPr lang="en-US" altLang="en-US" sz="2400" b="1"/>
              <a:t>Discounts</a:t>
            </a:r>
            <a:r>
              <a:rPr lang="en-US" altLang="en-US" sz="2400"/>
              <a:t>: 0% – 60%.</a:t>
            </a:r>
            <a:endParaRPr lang="en-US" alt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609600" y="561340"/>
            <a:ext cx="10972800" cy="1458595"/>
          </a:xfrm>
        </p:spPr>
        <p:txBody>
          <a:bodyPr/>
          <a:p>
            <a:pPr algn="ctr"/>
            <a:r>
              <a:rPr lang="en-US" altLang="en-US" sz="4800">
                <a:latin typeface="Berlin Sans FB Demi" panose="020E0802020502020306" charset="0"/>
                <a:cs typeface="Berlin Sans FB Demi" panose="020E0802020502020306" charset="0"/>
              </a:rPr>
              <a:t>Data Cleaning</a:t>
            </a:r>
            <a:endParaRPr lang="en-US" altLang="en-US" sz="4800">
              <a:latin typeface="Berlin Sans FB Demi" panose="020E0802020502020306" charset="0"/>
              <a:cs typeface="Berlin Sans FB Demi" panose="020E0802020502020306" charset="0"/>
            </a:endParaRPr>
          </a:p>
        </p:txBody>
      </p:sp>
      <p:sp>
        <p:nvSpPr>
          <p:cNvPr id="3" name="Text Placeholder 2"/>
          <p:cNvSpPr/>
          <p:nvPr>
            <p:ph type="body" idx="1"/>
          </p:nvPr>
        </p:nvSpPr>
        <p:spPr>
          <a:xfrm>
            <a:off x="609600" y="2136140"/>
            <a:ext cx="10972800" cy="3991610"/>
          </a:xfrm>
        </p:spPr>
        <p:txBody>
          <a:bodyPr/>
          <a:p>
            <a:pPr>
              <a:buFont typeface="Arial" panose="020B0604020202020204" pitchFamily="34" charset="0"/>
              <a:buChar char="•"/>
            </a:pPr>
            <a:endParaRPr lang="en-US" altLang="en-US" sz="2400"/>
          </a:p>
          <a:p>
            <a:pPr>
              <a:buFont typeface="Arial" panose="020B0604020202020204" pitchFamily="34" charset="0"/>
              <a:buChar char="•"/>
            </a:pPr>
            <a:r>
              <a:rPr lang="en-US" altLang="en-US" sz="2400"/>
              <a:t>Removed unwanted characters (₹, %, “off”).</a:t>
            </a:r>
            <a:endParaRPr lang="en-US" altLang="en-US" sz="2400"/>
          </a:p>
          <a:p>
            <a:pPr>
              <a:buFont typeface="Arial" panose="020B0604020202020204" pitchFamily="34" charset="0"/>
              <a:buChar char="•"/>
            </a:pPr>
            <a:endParaRPr lang="en-US" altLang="en-US" sz="2400"/>
          </a:p>
          <a:p>
            <a:pPr>
              <a:buFont typeface="Arial" panose="020B0604020202020204" pitchFamily="34" charset="0"/>
              <a:buChar char="•"/>
            </a:pPr>
            <a:r>
              <a:rPr lang="en-US" altLang="en-US" sz="2400"/>
              <a:t>Converted Price, Discount, Savings into numeric format.</a:t>
            </a:r>
            <a:endParaRPr lang="en-US" altLang="en-US" sz="2400"/>
          </a:p>
          <a:p>
            <a:pPr>
              <a:buFont typeface="Arial" panose="020B0604020202020204" pitchFamily="34" charset="0"/>
              <a:buChar char="•"/>
            </a:pPr>
            <a:endParaRPr lang="en-US" altLang="en-US" sz="2400"/>
          </a:p>
          <a:p>
            <a:pPr>
              <a:buFont typeface="Arial" panose="020B0604020202020204" pitchFamily="34" charset="0"/>
              <a:buChar char="•"/>
            </a:pPr>
            <a:r>
              <a:rPr lang="en-US" altLang="en-US" sz="2400"/>
              <a:t>Handled missing/null values.</a:t>
            </a:r>
            <a:endParaRPr lang="en-US" altLang="en-US" sz="2400"/>
          </a:p>
          <a:p>
            <a:pPr>
              <a:buFont typeface="Arial" panose="020B0604020202020204" pitchFamily="34" charset="0"/>
              <a:buChar char="•"/>
            </a:pPr>
            <a:endParaRPr lang="en-US" altLang="en-US" sz="2400"/>
          </a:p>
          <a:p>
            <a:pPr>
              <a:buFont typeface="Arial" panose="020B0604020202020204" pitchFamily="34" charset="0"/>
              <a:buChar char="•"/>
            </a:pPr>
            <a:r>
              <a:rPr lang="en-US" altLang="en-US" sz="2400"/>
              <a:t>Removed duplicate records.</a:t>
            </a:r>
            <a:endParaRPr lang="en-US" alt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263525" y="1040130"/>
            <a:ext cx="10972800" cy="582613"/>
          </a:xfrm>
        </p:spPr>
        <p:txBody>
          <a:bodyPr/>
          <a:p>
            <a:pPr algn="ctr"/>
            <a:r>
              <a:rPr lang="en-US" altLang="en-US" sz="4800">
                <a:latin typeface="Berlin Sans FB Demi" panose="020E0802020502020306" charset="0"/>
                <a:cs typeface="Berlin Sans FB Demi" panose="020E0802020502020306" charset="0"/>
              </a:rPr>
              <a:t>Data Manipulation</a:t>
            </a:r>
            <a:endParaRPr lang="en-US" altLang="en-US" sz="4800">
              <a:latin typeface="Berlin Sans FB Demi" panose="020E0802020502020306" charset="0"/>
              <a:cs typeface="Berlin Sans FB Demi" panose="020E0802020502020306" charset="0"/>
            </a:endParaRPr>
          </a:p>
        </p:txBody>
      </p:sp>
      <p:sp>
        <p:nvSpPr>
          <p:cNvPr id="3" name="Text Placeholder 2"/>
          <p:cNvSpPr/>
          <p:nvPr>
            <p:ph type="body" idx="1"/>
          </p:nvPr>
        </p:nvSpPr>
        <p:spPr>
          <a:xfrm>
            <a:off x="609600" y="1889760"/>
            <a:ext cx="10972800" cy="4237990"/>
          </a:xfrm>
        </p:spPr>
        <p:txBody>
          <a:bodyPr/>
          <a:p>
            <a:endParaRPr lang="en-US" altLang="en-US" sz="2400"/>
          </a:p>
          <a:p>
            <a:r>
              <a:rPr lang="en-US" altLang="en-US" sz="2400"/>
              <a:t>Added PriceCategory: Budget, Mid-range, Premium.</a:t>
            </a:r>
            <a:endParaRPr lang="en-US" altLang="en-US" sz="2400"/>
          </a:p>
          <a:p>
            <a:endParaRPr lang="en-US" altLang="en-US" sz="2400"/>
          </a:p>
          <a:p>
            <a:r>
              <a:rPr lang="en-US" altLang="en-US" sz="2400"/>
              <a:t>Calculated Savings column.</a:t>
            </a:r>
            <a:endParaRPr lang="en-US" altLang="en-US" sz="2400"/>
          </a:p>
          <a:p>
            <a:endParaRPr lang="en-US" altLang="en-US" sz="2400"/>
          </a:p>
          <a:p>
            <a:r>
              <a:rPr lang="en-US" altLang="en-US" sz="2400"/>
              <a:t>Standardized brand names.</a:t>
            </a:r>
            <a:endParaRPr lang="en-US" altLang="en-US" sz="2400"/>
          </a:p>
          <a:p>
            <a:endParaRPr lang="en-US" altLang="en-US" sz="2400"/>
          </a:p>
          <a:p>
            <a:r>
              <a:rPr lang="en-US" altLang="en-US" sz="2400"/>
              <a:t>Sorted dataset for structured analysis.</a:t>
            </a:r>
            <a:endParaRPr lang="en-US" alt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479425" y="980440"/>
            <a:ext cx="10972800" cy="582613"/>
          </a:xfrm>
        </p:spPr>
        <p:txBody>
          <a:bodyPr/>
          <a:p>
            <a:pPr algn="ctr"/>
            <a:r>
              <a:rPr lang="en-US" altLang="en-US" sz="4800">
                <a:latin typeface="Berlin Sans FB Demi" panose="020E0802020502020306" charset="0"/>
                <a:cs typeface="Berlin Sans FB Demi" panose="020E0802020502020306" charset="0"/>
              </a:rPr>
              <a:t>Univariate Analysis</a:t>
            </a:r>
            <a:endParaRPr lang="en-US" altLang="en-US" sz="4800">
              <a:latin typeface="Berlin Sans FB Demi" panose="020E0802020502020306" charset="0"/>
              <a:cs typeface="Berlin Sans FB Demi" panose="020E0802020502020306" charset="0"/>
            </a:endParaRPr>
          </a:p>
        </p:txBody>
      </p:sp>
      <p:sp>
        <p:nvSpPr>
          <p:cNvPr id="3" name="Text Placeholder 2"/>
          <p:cNvSpPr/>
          <p:nvPr>
            <p:ph type="body" idx="1"/>
          </p:nvPr>
        </p:nvSpPr>
        <p:spPr>
          <a:xfrm>
            <a:off x="609600" y="2381250"/>
            <a:ext cx="10972800" cy="3746500"/>
          </a:xfrm>
        </p:spPr>
        <p:txBody>
          <a:bodyPr>
            <a:normAutofit lnSpcReduction="10000"/>
          </a:bodyPr>
          <a:p>
            <a:pPr marL="114300" indent="0">
              <a:buNone/>
            </a:pPr>
            <a:r>
              <a:rPr lang="en-US" altLang="en-US" sz="2400" b="1"/>
              <a:t>Definition</a:t>
            </a:r>
            <a:r>
              <a:rPr lang="en-US" altLang="en-US" sz="2400"/>
              <a:t>: Univariate analysis examines each variable individually.</a:t>
            </a:r>
            <a:endParaRPr lang="en-US" altLang="en-US" sz="2400"/>
          </a:p>
          <a:p>
            <a:pPr marL="114300" indent="0">
              <a:buNone/>
            </a:pPr>
            <a:endParaRPr lang="en-US" altLang="en-US" sz="2400"/>
          </a:p>
          <a:p>
            <a:pPr marL="114300" indent="0">
              <a:buNone/>
            </a:pPr>
            <a:r>
              <a:rPr lang="en-US" altLang="en-US" sz="2400" b="1"/>
              <a:t>Purpose</a:t>
            </a:r>
            <a:r>
              <a:rPr lang="en-US" altLang="en-US" sz="2400"/>
              <a:t>: Helps understand distribution, central tendency, spread, and outliers.</a:t>
            </a:r>
            <a:endParaRPr lang="en-US" altLang="en-US" sz="2400"/>
          </a:p>
          <a:p>
            <a:pPr marL="114300" indent="0">
              <a:buNone/>
            </a:pPr>
            <a:endParaRPr lang="en-US" altLang="en-US" sz="2400"/>
          </a:p>
          <a:p>
            <a:pPr marL="114300" indent="0">
              <a:buNone/>
            </a:pPr>
            <a:r>
              <a:rPr lang="en-US" altLang="en-US" sz="2400" b="1"/>
              <a:t>Methods</a:t>
            </a:r>
            <a:r>
              <a:rPr lang="en-US" altLang="en-US" sz="2400"/>
              <a:t>:</a:t>
            </a:r>
            <a:endParaRPr lang="en-US" altLang="en-US" sz="2400"/>
          </a:p>
          <a:p>
            <a:pPr marL="114300" indent="0">
              <a:buNone/>
            </a:pPr>
            <a:endParaRPr lang="en-US" altLang="en-US" sz="2400"/>
          </a:p>
          <a:p>
            <a:pPr marL="114300" indent="0">
              <a:buNone/>
            </a:pPr>
            <a:r>
              <a:rPr lang="en-US" altLang="en-US" sz="2400"/>
              <a:t>For Numeric Variables → Histograms, Boxplots.</a:t>
            </a:r>
            <a:endParaRPr lang="en-US" altLang="en-US" sz="2400"/>
          </a:p>
          <a:p>
            <a:pPr marL="114300" indent="0">
              <a:buNone/>
            </a:pPr>
            <a:endParaRPr lang="en-US" altLang="en-US" sz="2400"/>
          </a:p>
          <a:p>
            <a:pPr marL="114300" indent="0">
              <a:buNone/>
            </a:pPr>
            <a:r>
              <a:rPr lang="en-US" altLang="en-US" sz="2400"/>
              <a:t>For Categorical Variables → Bar charts, Pie charts.</a:t>
            </a:r>
            <a:endParaRPr lang="en-US"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itle 8"/>
          <p:cNvSpPr>
            <a:spLocks noGrp="1"/>
          </p:cNvSpPr>
          <p:nvPr>
            <p:ph type="title"/>
          </p:nvPr>
        </p:nvSpPr>
        <p:spPr>
          <a:xfrm>
            <a:off x="609600" y="260350"/>
            <a:ext cx="10972800" cy="937895"/>
          </a:xfrm>
        </p:spPr>
        <p:txBody>
          <a:bodyPr/>
          <a:p>
            <a:pPr algn="l"/>
            <a:r>
              <a:rPr lang="en-US" altLang="en-IN" sz="2400" dirty="0">
                <a:sym typeface="+mn-ea"/>
              </a:rPr>
              <a:t>1.</a:t>
            </a:r>
            <a:r>
              <a:rPr lang="en-IN" sz="2400" dirty="0">
                <a:sym typeface="+mn-ea"/>
              </a:rPr>
              <a:t>Histogram &amp; KDE for Selling Price, Discount</a:t>
            </a:r>
            <a:r>
              <a:rPr lang="en-US" altLang="en-IN" sz="2400" dirty="0">
                <a:sym typeface="+mn-ea"/>
              </a:rPr>
              <a:t>,</a:t>
            </a:r>
            <a:r>
              <a:rPr lang="en-IN" sz="2400" dirty="0">
                <a:sym typeface="+mn-ea"/>
              </a:rPr>
              <a:t> Price, Ratings Count, Savings</a:t>
            </a:r>
            <a:br>
              <a:rPr lang="en-IN" sz="2400" dirty="0">
                <a:sym typeface="+mn-ea"/>
              </a:rPr>
            </a:br>
            <a:r>
              <a:rPr lang="en-IN" sz="2400" dirty="0">
                <a:sym typeface="+mn-ea"/>
              </a:rPr>
              <a:t>2. Boxplot for Discount</a:t>
            </a:r>
            <a:r>
              <a:rPr lang="en-US" altLang="en-IN" sz="2400" dirty="0">
                <a:sym typeface="+mn-ea"/>
              </a:rPr>
              <a:t>,</a:t>
            </a:r>
            <a:r>
              <a:rPr lang="en-IN" sz="2400" dirty="0">
                <a:sym typeface="+mn-ea"/>
              </a:rPr>
              <a:t> Price, Ratings Count, Savings</a:t>
            </a:r>
            <a:r>
              <a:rPr lang="en-US" altLang="en-IN" sz="2400" dirty="0">
                <a:sym typeface="+mn-ea"/>
              </a:rPr>
              <a:t>,Selling Price</a:t>
            </a:r>
            <a:endParaRPr lang="en-US" altLang="en-IN" sz="2400" dirty="0">
              <a:sym typeface="+mn-ea"/>
            </a:endParaRPr>
          </a:p>
        </p:txBody>
      </p:sp>
      <p:sp>
        <p:nvSpPr>
          <p:cNvPr id="24" name="Content Placeholder 23"/>
          <p:cNvSpPr/>
          <p:nvPr>
            <p:ph sz="half" idx="1"/>
          </p:nvPr>
        </p:nvSpPr>
        <p:spPr/>
        <p:txBody>
          <a:bodyPr/>
          <a:p>
            <a:pPr marL="0" indent="0">
              <a:buNone/>
            </a:pPr>
            <a:r>
              <a:rPr lang="en-US" sz="2400"/>
              <a:t>1. </a:t>
            </a:r>
            <a:r>
              <a:rPr lang="en-US" sz="2400" u="sng"/>
              <a:t>Histogram</a:t>
            </a:r>
            <a:endParaRPr lang="en-US" sz="2400" u="sng"/>
          </a:p>
        </p:txBody>
      </p:sp>
      <p:pic>
        <p:nvPicPr>
          <p:cNvPr id="26" name="Content Placeholder 25"/>
          <p:cNvPicPr>
            <a:picLocks noChangeAspect="1"/>
          </p:cNvPicPr>
          <p:nvPr>
            <p:ph sz="half" idx="2"/>
          </p:nvPr>
        </p:nvPicPr>
        <p:blipFill>
          <a:blip r:embed="rId1"/>
          <a:stretch>
            <a:fillRect/>
          </a:stretch>
        </p:blipFill>
        <p:spPr>
          <a:xfrm>
            <a:off x="404495" y="1846580"/>
            <a:ext cx="4763770" cy="4301490"/>
          </a:xfrm>
          <a:prstGeom prst="rect">
            <a:avLst/>
          </a:prstGeom>
        </p:spPr>
      </p:pic>
      <p:pic>
        <p:nvPicPr>
          <p:cNvPr id="27" name="Picture 26"/>
          <p:cNvPicPr>
            <a:picLocks noChangeAspect="1"/>
          </p:cNvPicPr>
          <p:nvPr/>
        </p:nvPicPr>
        <p:blipFill>
          <a:blip r:embed="rId2"/>
          <a:stretch>
            <a:fillRect/>
          </a:stretch>
        </p:blipFill>
        <p:spPr>
          <a:xfrm>
            <a:off x="6528435" y="2060575"/>
            <a:ext cx="4873625" cy="41059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212090"/>
          </a:xfrm>
        </p:spPr>
        <p:txBody>
          <a:bodyPr/>
          <a:p>
            <a:endParaRPr lang="en-US"/>
          </a:p>
        </p:txBody>
      </p:sp>
      <p:pic>
        <p:nvPicPr>
          <p:cNvPr id="5" name="Content Placeholder 4"/>
          <p:cNvPicPr>
            <a:picLocks noChangeAspect="1"/>
          </p:cNvPicPr>
          <p:nvPr>
            <p:ph sz="half" idx="1"/>
          </p:nvPr>
        </p:nvPicPr>
        <p:blipFill>
          <a:blip r:embed="rId1"/>
          <a:stretch>
            <a:fillRect/>
          </a:stretch>
        </p:blipFill>
        <p:spPr>
          <a:xfrm>
            <a:off x="609600" y="692785"/>
            <a:ext cx="4457700" cy="2990850"/>
          </a:xfrm>
          <a:prstGeom prst="rect">
            <a:avLst/>
          </a:prstGeom>
        </p:spPr>
      </p:pic>
      <p:pic>
        <p:nvPicPr>
          <p:cNvPr id="6" name="Content Placeholder 5"/>
          <p:cNvPicPr>
            <a:picLocks noChangeAspect="1"/>
          </p:cNvPicPr>
          <p:nvPr>
            <p:ph sz="half" idx="2"/>
          </p:nvPr>
        </p:nvPicPr>
        <p:blipFill>
          <a:blip r:embed="rId2"/>
          <a:stretch>
            <a:fillRect/>
          </a:stretch>
        </p:blipFill>
        <p:spPr>
          <a:xfrm>
            <a:off x="695960" y="3789045"/>
            <a:ext cx="4457700" cy="2933700"/>
          </a:xfrm>
          <a:prstGeom prst="rect">
            <a:avLst/>
          </a:prstGeom>
        </p:spPr>
      </p:pic>
      <p:pic>
        <p:nvPicPr>
          <p:cNvPr id="7" name="Picture 6"/>
          <p:cNvPicPr>
            <a:picLocks noChangeAspect="1"/>
          </p:cNvPicPr>
          <p:nvPr/>
        </p:nvPicPr>
        <p:blipFill>
          <a:blip r:embed="rId3"/>
          <a:stretch>
            <a:fillRect/>
          </a:stretch>
        </p:blipFill>
        <p:spPr>
          <a:xfrm>
            <a:off x="6816090" y="1426210"/>
            <a:ext cx="4887595" cy="37922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0972800" cy="1003935"/>
          </a:xfrm>
        </p:spPr>
        <p:txBody>
          <a:bodyPr/>
          <a:p>
            <a:pPr algn="l"/>
            <a:r>
              <a:rPr lang="en-US" altLang="en-IN" sz="2800" dirty="0">
                <a:latin typeface="+mn-lt"/>
                <a:cs typeface="+mn-lt"/>
                <a:sym typeface="+mn-ea"/>
              </a:rPr>
              <a:t>2.</a:t>
            </a:r>
            <a:r>
              <a:rPr lang="en-IN" sz="2800" u="sng" dirty="0">
                <a:latin typeface="+mn-lt"/>
                <a:cs typeface="+mn-lt"/>
                <a:sym typeface="+mn-ea"/>
              </a:rPr>
              <a:t>Boxplot</a:t>
            </a:r>
            <a:r>
              <a:rPr lang="en-IN" dirty="0">
                <a:latin typeface="+mn-lt"/>
                <a:cs typeface="+mn-lt"/>
                <a:sym typeface="+mn-ea"/>
              </a:rPr>
              <a:t> </a:t>
            </a:r>
            <a:endParaRPr lang="en-US">
              <a:latin typeface="+mn-lt"/>
              <a:cs typeface="+mn-lt"/>
            </a:endParaRPr>
          </a:p>
        </p:txBody>
      </p:sp>
      <p:sp>
        <p:nvSpPr>
          <p:cNvPr id="7" name="Text Box 6"/>
          <p:cNvSpPr txBox="1"/>
          <p:nvPr/>
        </p:nvSpPr>
        <p:spPr>
          <a:xfrm>
            <a:off x="767715" y="1261745"/>
            <a:ext cx="857885" cy="662305"/>
          </a:xfrm>
          <a:prstGeom prst="rect">
            <a:avLst/>
          </a:prstGeom>
          <a:noFill/>
        </p:spPr>
        <p:txBody>
          <a:bodyPr wrap="square" rtlCol="0">
            <a:noAutofit/>
          </a:bodyPr>
          <a:p>
            <a:endParaRPr lang="en-US" sz="3200"/>
          </a:p>
        </p:txBody>
      </p:sp>
      <p:pic>
        <p:nvPicPr>
          <p:cNvPr id="12" name="Content Placeholder 11"/>
          <p:cNvPicPr>
            <a:picLocks noChangeAspect="1"/>
          </p:cNvPicPr>
          <p:nvPr>
            <p:ph sz="half" idx="2"/>
          </p:nvPr>
        </p:nvPicPr>
        <p:blipFill>
          <a:blip r:embed="rId1"/>
          <a:stretch>
            <a:fillRect/>
          </a:stretch>
        </p:blipFill>
        <p:spPr>
          <a:xfrm>
            <a:off x="6537325" y="1486535"/>
            <a:ext cx="5024120" cy="3659505"/>
          </a:xfrm>
          <a:prstGeom prst="rect">
            <a:avLst/>
          </a:prstGeom>
        </p:spPr>
      </p:pic>
      <p:pic>
        <p:nvPicPr>
          <p:cNvPr id="11" name="Content Placeholder 10"/>
          <p:cNvPicPr>
            <a:picLocks noChangeAspect="1"/>
          </p:cNvPicPr>
          <p:nvPr>
            <p:ph sz="half" idx="1"/>
          </p:nvPr>
        </p:nvPicPr>
        <p:blipFill>
          <a:blip r:embed="rId2"/>
          <a:stretch>
            <a:fillRect/>
          </a:stretch>
        </p:blipFill>
        <p:spPr>
          <a:xfrm>
            <a:off x="1271905" y="1598295"/>
            <a:ext cx="4450715" cy="367220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8" name="Content Placeholder 7"/>
          <p:cNvPicPr>
            <a:picLocks noChangeAspect="1"/>
          </p:cNvPicPr>
          <p:nvPr>
            <p:ph sz="half" idx="1"/>
          </p:nvPr>
        </p:nvPicPr>
        <p:blipFill>
          <a:blip r:embed="rId1"/>
          <a:stretch>
            <a:fillRect/>
          </a:stretch>
        </p:blipFill>
        <p:spPr>
          <a:xfrm>
            <a:off x="623570" y="908685"/>
            <a:ext cx="4000500" cy="3000375"/>
          </a:xfrm>
          <a:prstGeom prst="rect">
            <a:avLst/>
          </a:prstGeom>
        </p:spPr>
      </p:pic>
      <p:pic>
        <p:nvPicPr>
          <p:cNvPr id="9" name="Content Placeholder 8"/>
          <p:cNvPicPr>
            <a:picLocks noChangeAspect="1"/>
          </p:cNvPicPr>
          <p:nvPr>
            <p:ph sz="half" idx="2"/>
          </p:nvPr>
        </p:nvPicPr>
        <p:blipFill>
          <a:blip r:embed="rId2"/>
          <a:stretch>
            <a:fillRect/>
          </a:stretch>
        </p:blipFill>
        <p:spPr>
          <a:xfrm>
            <a:off x="623570" y="3933190"/>
            <a:ext cx="4029075" cy="2876550"/>
          </a:xfrm>
          <a:prstGeom prst="rect">
            <a:avLst/>
          </a:prstGeom>
        </p:spPr>
      </p:pic>
      <p:pic>
        <p:nvPicPr>
          <p:cNvPr id="10" name="Picture 9"/>
          <p:cNvPicPr>
            <a:picLocks noChangeAspect="1"/>
          </p:cNvPicPr>
          <p:nvPr/>
        </p:nvPicPr>
        <p:blipFill>
          <a:blip r:embed="rId3"/>
          <a:stretch>
            <a:fillRect/>
          </a:stretch>
        </p:blipFill>
        <p:spPr>
          <a:xfrm>
            <a:off x="6240145" y="2063115"/>
            <a:ext cx="4632960" cy="32969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01295"/>
            <a:ext cx="10972800" cy="881380"/>
          </a:xfrm>
        </p:spPr>
        <p:txBody>
          <a:bodyPr/>
          <a:p>
            <a:r>
              <a:rPr lang="en-US" altLang="en-IN" sz="2800" dirty="0">
                <a:latin typeface="+mn-lt"/>
                <a:cs typeface="+mn-lt"/>
                <a:sym typeface="+mn-ea"/>
              </a:rPr>
              <a:t>1</a:t>
            </a:r>
            <a:r>
              <a:rPr lang="en-IN" sz="2800" dirty="0">
                <a:latin typeface="+mn-lt"/>
                <a:cs typeface="+mn-lt"/>
                <a:sym typeface="+mn-ea"/>
              </a:rPr>
              <a:t>. Count plot for Price Band</a:t>
            </a:r>
            <a:br>
              <a:rPr lang="en-IN" sz="2800" dirty="0">
                <a:latin typeface="+mn-lt"/>
                <a:cs typeface="+mn-lt"/>
                <a:sym typeface="+mn-ea"/>
              </a:rPr>
            </a:br>
            <a:r>
              <a:rPr lang="en-IN" sz="2800" dirty="0">
                <a:latin typeface="+mn-lt"/>
                <a:cs typeface="+mn-lt"/>
                <a:sym typeface="+mn-ea"/>
              </a:rPr>
              <a:t>2. Pie chart for Brands Distribution</a:t>
            </a:r>
            <a:endParaRPr lang="en-US" altLang="en-US" sz="2800">
              <a:latin typeface="+mn-lt"/>
              <a:cs typeface="+mn-lt"/>
            </a:endParaRPr>
          </a:p>
        </p:txBody>
      </p:sp>
      <p:sp>
        <p:nvSpPr>
          <p:cNvPr id="7" name="Text Box 6"/>
          <p:cNvSpPr txBox="1"/>
          <p:nvPr/>
        </p:nvSpPr>
        <p:spPr>
          <a:xfrm>
            <a:off x="595630" y="1597025"/>
            <a:ext cx="603885" cy="521970"/>
          </a:xfrm>
          <a:prstGeom prst="rect">
            <a:avLst/>
          </a:prstGeom>
          <a:noFill/>
        </p:spPr>
        <p:txBody>
          <a:bodyPr wrap="square" rtlCol="0">
            <a:spAutoFit/>
          </a:bodyPr>
          <a:p>
            <a:r>
              <a:rPr lang="en-US" sz="2800"/>
              <a:t>1)</a:t>
            </a:r>
            <a:endParaRPr lang="en-US" sz="2800"/>
          </a:p>
        </p:txBody>
      </p:sp>
      <p:sp>
        <p:nvSpPr>
          <p:cNvPr id="8" name="Text Box 7"/>
          <p:cNvSpPr txBox="1"/>
          <p:nvPr/>
        </p:nvSpPr>
        <p:spPr>
          <a:xfrm>
            <a:off x="6528435" y="1658620"/>
            <a:ext cx="645160" cy="460375"/>
          </a:xfrm>
          <a:prstGeom prst="rect">
            <a:avLst/>
          </a:prstGeom>
          <a:noFill/>
        </p:spPr>
        <p:txBody>
          <a:bodyPr wrap="square" rtlCol="0">
            <a:spAutoFit/>
          </a:bodyPr>
          <a:p>
            <a:r>
              <a:rPr lang="en-US" sz="2400"/>
              <a:t>2)</a:t>
            </a:r>
            <a:endParaRPr lang="en-US" sz="2400"/>
          </a:p>
        </p:txBody>
      </p:sp>
      <p:pic>
        <p:nvPicPr>
          <p:cNvPr id="10" name="Content Placeholder 9"/>
          <p:cNvPicPr>
            <a:picLocks noChangeAspect="1"/>
          </p:cNvPicPr>
          <p:nvPr>
            <p:ph sz="half" idx="1"/>
          </p:nvPr>
        </p:nvPicPr>
        <p:blipFill>
          <a:blip r:embed="rId1"/>
          <a:stretch>
            <a:fillRect/>
          </a:stretch>
        </p:blipFill>
        <p:spPr>
          <a:xfrm>
            <a:off x="1039495" y="1699260"/>
            <a:ext cx="4524375" cy="3802380"/>
          </a:xfrm>
          <a:prstGeom prst="rect">
            <a:avLst/>
          </a:prstGeom>
        </p:spPr>
      </p:pic>
      <p:pic>
        <p:nvPicPr>
          <p:cNvPr id="12" name="Content Placeholder 11"/>
          <p:cNvPicPr>
            <a:picLocks noChangeAspect="1"/>
          </p:cNvPicPr>
          <p:nvPr>
            <p:ph sz="half" idx="2"/>
          </p:nvPr>
        </p:nvPicPr>
        <p:blipFill>
          <a:blip r:embed="rId2"/>
          <a:stretch>
            <a:fillRect/>
          </a:stretch>
        </p:blipFill>
        <p:spPr>
          <a:xfrm>
            <a:off x="6888480" y="1731645"/>
            <a:ext cx="4267200" cy="38385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840105" y="457200"/>
            <a:ext cx="10551160" cy="1091565"/>
          </a:xfrm>
        </p:spPr>
        <p:txBody>
          <a:bodyPr/>
          <a:p>
            <a:pPr algn="ctr"/>
            <a:r>
              <a:rPr lang="en-US" altLang="en-US" sz="4800">
                <a:latin typeface="Berlin Sans FB Demi" panose="020E0802020502020306" charset="0"/>
                <a:cs typeface="Berlin Sans FB Demi" panose="020E0802020502020306" charset="0"/>
              </a:rPr>
              <a:t>Bivariate Analysis</a:t>
            </a:r>
            <a:endParaRPr lang="en-US" altLang="en-US" sz="4800">
              <a:latin typeface="Berlin Sans FB Demi" panose="020E0802020502020306" charset="0"/>
              <a:cs typeface="Berlin Sans FB Demi" panose="020E0802020502020306" charset="0"/>
            </a:endParaRPr>
          </a:p>
        </p:txBody>
      </p:sp>
      <p:sp>
        <p:nvSpPr>
          <p:cNvPr id="4" name="Text Placeholder 3"/>
          <p:cNvSpPr/>
          <p:nvPr>
            <p:ph type="body" idx="1"/>
          </p:nvPr>
        </p:nvSpPr>
        <p:spPr>
          <a:xfrm>
            <a:off x="840105" y="1645285"/>
            <a:ext cx="10550525" cy="5017135"/>
          </a:xfrm>
        </p:spPr>
        <p:txBody>
          <a:bodyPr>
            <a:noAutofit/>
          </a:bodyPr>
          <a:p>
            <a:r>
              <a:rPr lang="en-US" altLang="en-US" sz="2400" b="1"/>
              <a:t>Definition</a:t>
            </a:r>
            <a:r>
              <a:rPr lang="en-US" altLang="en-US" sz="2400"/>
              <a:t>:Bivariate analysis studies the relationship between two variables at the same time.</a:t>
            </a:r>
            <a:endParaRPr lang="en-US" altLang="en-US" sz="2400"/>
          </a:p>
          <a:p>
            <a:endParaRPr lang="en-US" altLang="en-US" sz="2400"/>
          </a:p>
          <a:p>
            <a:r>
              <a:rPr lang="en-US" altLang="en-US" sz="2400"/>
              <a:t> </a:t>
            </a:r>
            <a:r>
              <a:rPr lang="en-US" altLang="en-US" sz="2400" b="1"/>
              <a:t>Purpose:</a:t>
            </a:r>
            <a:r>
              <a:rPr lang="en-US" altLang="en-US" sz="2400"/>
              <a:t>To find associations, trends, or patterns between variables.</a:t>
            </a:r>
            <a:endParaRPr lang="en-US" altLang="en-US" sz="2400"/>
          </a:p>
          <a:p>
            <a:r>
              <a:rPr lang="en-US" altLang="en-US" sz="2400"/>
              <a:t>                 To check if one variable affects the other.</a:t>
            </a:r>
            <a:endParaRPr lang="en-US" altLang="en-US" sz="2400"/>
          </a:p>
          <a:p>
            <a:r>
              <a:rPr lang="en-US" altLang="en-US" sz="2400"/>
              <a:t>                 To support decision-making and predictions.</a:t>
            </a:r>
            <a:endParaRPr lang="en-US" altLang="en-US" sz="2400"/>
          </a:p>
          <a:p>
            <a:endParaRPr lang="en-US" altLang="en-US" sz="2400"/>
          </a:p>
          <a:p>
            <a:r>
              <a:rPr lang="en-US" altLang="en-US" sz="2400"/>
              <a:t> </a:t>
            </a:r>
            <a:r>
              <a:rPr lang="en-US" altLang="en-US" sz="2400" b="1"/>
              <a:t>Methods:</a:t>
            </a:r>
            <a:endParaRPr lang="en-US" altLang="en-US" sz="2400"/>
          </a:p>
          <a:p>
            <a:r>
              <a:rPr lang="en-US" altLang="en-US" sz="2400"/>
              <a:t>Numerical vs Numerical → Correlation, Scatter Plot.</a:t>
            </a:r>
            <a:endParaRPr lang="en-US" altLang="en-US" sz="2400"/>
          </a:p>
          <a:p>
            <a:r>
              <a:rPr lang="en-US" altLang="en-US" sz="2400"/>
              <a:t>Categorical vs Numerical → Boxplot.</a:t>
            </a:r>
            <a:endParaRPr lang="en-US" altLang="en-US" sz="2400"/>
          </a:p>
          <a:p>
            <a:r>
              <a:rPr lang="en-US" altLang="en-US" sz="2400"/>
              <a:t>Categorical vs Categorical → Stacked Bar Chart, Heatmap.</a:t>
            </a:r>
            <a:endParaRPr lang="en-US"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a:sym typeface="+mn-ea"/>
              </a:rPr>
              <a:t>Categorical </a:t>
            </a:r>
            <a:br>
              <a:rPr lang="en-US" altLang="en-US">
                <a:sym typeface="+mn-ea"/>
              </a:rPr>
            </a:br>
            <a:r>
              <a:rPr lang="en-US" altLang="en-US">
                <a:sym typeface="+mn-ea"/>
              </a:rPr>
              <a:t>vs </a:t>
            </a:r>
            <a:br>
              <a:rPr lang="en-US" altLang="en-US">
                <a:sym typeface="+mn-ea"/>
              </a:rPr>
            </a:br>
            <a:r>
              <a:rPr lang="en-US" altLang="en-US">
                <a:sym typeface="+mn-ea"/>
              </a:rPr>
              <a:t>Numerical </a:t>
            </a:r>
            <a:endParaRPr lang="en-US"/>
          </a:p>
        </p:txBody>
      </p:sp>
      <p:pic>
        <p:nvPicPr>
          <p:cNvPr id="5" name="Picture Placeholder 4"/>
          <p:cNvPicPr>
            <a:picLocks noChangeAspect="1"/>
          </p:cNvPicPr>
          <p:nvPr>
            <p:ph type="pic" idx="1"/>
          </p:nvPr>
        </p:nvPicPr>
        <p:blipFill>
          <a:blip r:embed="rId1"/>
          <a:stretch>
            <a:fillRect/>
          </a:stretch>
        </p:blipFill>
        <p:spPr>
          <a:xfrm>
            <a:off x="6021070" y="1561465"/>
            <a:ext cx="4495800" cy="3724275"/>
          </a:xfrm>
          <a:prstGeom prst="rect">
            <a:avLst/>
          </a:prstGeom>
        </p:spPr>
      </p:pic>
      <p:sp>
        <p:nvSpPr>
          <p:cNvPr id="4" name="Text Placeholder 3"/>
          <p:cNvSpPr>
            <a:spLocks noGrp="1"/>
          </p:cNvSpPr>
          <p:nvPr>
            <p:ph type="body" sz="half" idx="2"/>
          </p:nvPr>
        </p:nvSpPr>
        <p:spPr/>
        <p:txBody>
          <a:bodyPr/>
          <a:p>
            <a:r>
              <a:rPr lang="en-US" altLang="en-US" sz="2400"/>
              <a:t>There is a positive relationship between PriceCategory and RatingCount — Mid-range products tend to receive more user ratings on average compared to Budget products.</a:t>
            </a:r>
            <a:endParaRPr lang="en-US" alt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a:sym typeface="+mn-ea"/>
              </a:rPr>
              <a:t>Numerical </a:t>
            </a:r>
            <a:br>
              <a:rPr lang="en-US" altLang="en-US">
                <a:sym typeface="+mn-ea"/>
              </a:rPr>
            </a:br>
            <a:r>
              <a:rPr lang="en-US" altLang="en-US">
                <a:sym typeface="+mn-ea"/>
              </a:rPr>
              <a:t>vs </a:t>
            </a:r>
            <a:br>
              <a:rPr lang="en-US" altLang="en-US">
                <a:sym typeface="+mn-ea"/>
              </a:rPr>
            </a:br>
            <a:r>
              <a:rPr lang="en-US" altLang="en-US">
                <a:sym typeface="+mn-ea"/>
              </a:rPr>
              <a:t>Numerical</a:t>
            </a:r>
            <a:endParaRPr lang="en-US"/>
          </a:p>
        </p:txBody>
      </p:sp>
      <p:pic>
        <p:nvPicPr>
          <p:cNvPr id="5" name="Picture Placeholder 4"/>
          <p:cNvPicPr>
            <a:picLocks noChangeAspect="1"/>
          </p:cNvPicPr>
          <p:nvPr>
            <p:ph type="pic" idx="1"/>
          </p:nvPr>
        </p:nvPicPr>
        <p:blipFill>
          <a:blip r:embed="rId1"/>
          <a:stretch>
            <a:fillRect/>
          </a:stretch>
        </p:blipFill>
        <p:spPr>
          <a:xfrm>
            <a:off x="6078220" y="1590040"/>
            <a:ext cx="4381500" cy="3667125"/>
          </a:xfrm>
          <a:prstGeom prst="rect">
            <a:avLst/>
          </a:prstGeom>
        </p:spPr>
      </p:pic>
      <p:sp>
        <p:nvSpPr>
          <p:cNvPr id="4" name="Text Placeholder 3"/>
          <p:cNvSpPr>
            <a:spLocks noGrp="1"/>
          </p:cNvSpPr>
          <p:nvPr>
            <p:ph type="body" sz="half" idx="2"/>
          </p:nvPr>
        </p:nvSpPr>
        <p:spPr/>
        <p:txBody>
          <a:bodyPr/>
          <a:p>
            <a:r>
              <a:rPr lang="en-US" altLang="en-US" sz="3200"/>
              <a:t>The image shows a weakly positive correlation between Selling Price and Discount.</a:t>
            </a:r>
            <a:endParaRPr lang="en-US" altLang="en-US" sz="32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altLang="en-US">
                <a:sym typeface="+mn-ea"/>
              </a:rPr>
              <a:t>Categorical </a:t>
            </a:r>
            <a:br>
              <a:rPr lang="en-US" altLang="en-US">
                <a:sym typeface="+mn-ea"/>
              </a:rPr>
            </a:br>
            <a:r>
              <a:rPr lang="en-US" altLang="en-US">
                <a:sym typeface="+mn-ea"/>
              </a:rPr>
              <a:t>vs </a:t>
            </a:r>
            <a:br>
              <a:rPr lang="en-US" altLang="en-US">
                <a:sym typeface="+mn-ea"/>
              </a:rPr>
            </a:br>
            <a:r>
              <a:rPr lang="en-US" altLang="en-US">
                <a:sym typeface="+mn-ea"/>
              </a:rPr>
              <a:t>Categorical</a:t>
            </a:r>
            <a:endParaRPr lang="en-US"/>
          </a:p>
        </p:txBody>
      </p:sp>
      <p:pic>
        <p:nvPicPr>
          <p:cNvPr id="5" name="Picture Placeholder 4"/>
          <p:cNvPicPr>
            <a:picLocks noChangeAspect="1"/>
          </p:cNvPicPr>
          <p:nvPr>
            <p:ph type="pic" idx="1"/>
          </p:nvPr>
        </p:nvPicPr>
        <p:blipFill>
          <a:blip r:embed="rId1"/>
          <a:stretch>
            <a:fillRect/>
          </a:stretch>
        </p:blipFill>
        <p:spPr>
          <a:xfrm>
            <a:off x="5183505" y="1454150"/>
            <a:ext cx="6172200" cy="3939540"/>
          </a:xfrm>
          <a:prstGeom prst="rect">
            <a:avLst/>
          </a:prstGeom>
        </p:spPr>
      </p:pic>
      <p:sp>
        <p:nvSpPr>
          <p:cNvPr id="4" name="Text Placeholder 3"/>
          <p:cNvSpPr>
            <a:spLocks noGrp="1"/>
          </p:cNvSpPr>
          <p:nvPr>
            <p:ph type="body" sz="half" idx="2"/>
          </p:nvPr>
        </p:nvSpPr>
        <p:spPr>
          <a:xfrm>
            <a:off x="840105" y="2057400"/>
            <a:ext cx="4621530" cy="3811905"/>
          </a:xfrm>
        </p:spPr>
        <p:txBody>
          <a:bodyPr/>
          <a:p>
            <a:r>
              <a:rPr lang="en-US" sz="2800">
                <a:latin typeface="Calibri" panose="020F0502020204030204" pitchFamily="34" charset="0"/>
                <a:cs typeface="Calibri" panose="020F0502020204030204" pitchFamily="34" charset="0"/>
              </a:rPr>
              <a:t>Brand by PriceCategory</a:t>
            </a:r>
            <a:endParaRPr lang="en-US" sz="2800">
              <a:latin typeface="Calibri" panose="020F0502020204030204" pitchFamily="34" charset="0"/>
              <a:cs typeface="Calibri" panose="020F0502020204030204" pitchFamily="34" charset="0"/>
            </a:endParaRPr>
          </a:p>
          <a:p>
            <a:pPr marL="457200" indent="-457200">
              <a:buFont typeface="Arial" panose="020B0604020202020204" pitchFamily="34" charset="0"/>
              <a:buChar char="•"/>
            </a:pPr>
            <a:r>
              <a:rPr lang="en-US" sz="2800">
                <a:latin typeface="Calibri" panose="020F0502020204030204" pitchFamily="34" charset="0"/>
                <a:cs typeface="Calibri" panose="020F0502020204030204" pitchFamily="34" charset="0"/>
              </a:rPr>
              <a:t>Plum and Wishcare are budget friendly.</a:t>
            </a:r>
            <a:endParaRPr lang="en-US" sz="2800">
              <a:latin typeface="Calibri" panose="020F0502020204030204" pitchFamily="34" charset="0"/>
              <a:cs typeface="Calibri" panose="020F050202020403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b="1" dirty="0">
                <a:latin typeface="Calibri" panose="020F0502020204030204" pitchFamily="34" charset="0"/>
                <a:ea typeface="Calibri" panose="020F0502020204030204" pitchFamily="34" charset="0"/>
                <a:cs typeface="Calibri" panose="020F0502020204030204" pitchFamily="34" charset="0"/>
                <a:sym typeface="+mn-ea"/>
              </a:rPr>
              <a:t>Multivariate Analysis - Correlation</a:t>
            </a:r>
            <a:endParaRPr lang="en-US"/>
          </a:p>
        </p:txBody>
      </p:sp>
      <p:pic>
        <p:nvPicPr>
          <p:cNvPr id="5" name="Picture Placeholder 4"/>
          <p:cNvPicPr>
            <a:picLocks noChangeAspect="1"/>
          </p:cNvPicPr>
          <p:nvPr>
            <p:ph type="pic" idx="1"/>
          </p:nvPr>
        </p:nvPicPr>
        <p:blipFill>
          <a:blip r:embed="rId1"/>
          <a:stretch>
            <a:fillRect/>
          </a:stretch>
        </p:blipFill>
        <p:spPr>
          <a:xfrm>
            <a:off x="5735320" y="1288415"/>
            <a:ext cx="5067300" cy="4406265"/>
          </a:xfrm>
          <a:prstGeom prst="rect">
            <a:avLst/>
          </a:prstGeom>
        </p:spPr>
      </p:pic>
      <p:sp>
        <p:nvSpPr>
          <p:cNvPr id="4" name="Text Placeholder 3"/>
          <p:cNvSpPr>
            <a:spLocks noGrp="1"/>
          </p:cNvSpPr>
          <p:nvPr>
            <p:ph type="body" sz="half" idx="2"/>
          </p:nvPr>
        </p:nvSpPr>
        <p:spPr/>
        <p:txBody>
          <a:bodyPr/>
          <a:p>
            <a:r>
              <a:rPr lang="en-US" altLang="en-US" sz="2000"/>
              <a:t>1.Price vs SellingPrice (0.77)- Strong positive relationship.</a:t>
            </a:r>
            <a:endParaRPr lang="en-US" altLang="en-US" sz="2000"/>
          </a:p>
          <a:p>
            <a:r>
              <a:rPr lang="en-US" altLang="en-US" sz="2000"/>
              <a:t>2.Price vs Discount(0.48) - Moderate positive relationship.</a:t>
            </a:r>
            <a:endParaRPr lang="en-US" altLang="en-US" sz="2000"/>
          </a:p>
          <a:p>
            <a:r>
              <a:rPr lang="en-US" altLang="en-US" sz="2000"/>
              <a:t>3.Price vs Savings(0.72) - Strong positive relationship.</a:t>
            </a:r>
            <a:endParaRPr lang="en-US" altLang="en-US" sz="2000"/>
          </a:p>
          <a:p>
            <a:r>
              <a:rPr lang="en-US" altLang="en-US" sz="2000"/>
              <a:t>4.Price vs RatingCount (-0.026) -no correlation.</a:t>
            </a:r>
            <a:endParaRPr lang="en-US" altLang="en-US" sz="2000"/>
          </a:p>
          <a:p>
            <a:r>
              <a:rPr lang="en-US" altLang="en-US" sz="2000"/>
              <a:t>5.SellingPrice vs RatingCount (0.0) - Very weak or no correlation.</a:t>
            </a:r>
            <a:endParaRPr lang="en-US" altLang="en-US" sz="2000"/>
          </a:p>
          <a:p>
            <a:endParaRPr lang="en-US" altLang="en-US"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840105" y="341630"/>
            <a:ext cx="10177145" cy="632460"/>
          </a:xfrm>
        </p:spPr>
        <p:txBody>
          <a:bodyPr/>
          <a:p>
            <a:pPr algn="ctr"/>
            <a:r>
              <a:rPr lang="en-US" b="1">
                <a:latin typeface="Berlin Sans FB Demi" panose="020E0802020502020306" charset="0"/>
                <a:cs typeface="Berlin Sans FB Demi" panose="020E0802020502020306" charset="0"/>
              </a:rPr>
              <a:t>KEY BUSINESS QUESTIONS</a:t>
            </a:r>
            <a:endParaRPr lang="en-US" b="1">
              <a:latin typeface="Berlin Sans FB Demi" panose="020E0802020502020306" charset="0"/>
              <a:cs typeface="Berlin Sans FB Demi" panose="020E0802020502020306" charset="0"/>
            </a:endParaRPr>
          </a:p>
        </p:txBody>
      </p:sp>
      <p:sp>
        <p:nvSpPr>
          <p:cNvPr id="4" name="Text Placeholder 3"/>
          <p:cNvSpPr/>
          <p:nvPr>
            <p:ph type="body" idx="1"/>
          </p:nvPr>
        </p:nvSpPr>
        <p:spPr>
          <a:xfrm>
            <a:off x="840105" y="1203960"/>
            <a:ext cx="10433685" cy="5488305"/>
          </a:xfrm>
        </p:spPr>
        <p:txBody>
          <a:bodyPr>
            <a:noAutofit/>
          </a:bodyPr>
          <a:p>
            <a:pPr marL="685800" indent="-457200">
              <a:buAutoNum type="arabicPeriod"/>
            </a:pPr>
            <a:r>
              <a:rPr lang="en-US" altLang="en-US" sz="2400"/>
              <a:t>How do price and discounts influence customer choices across different brands?</a:t>
            </a:r>
            <a:endParaRPr lang="en-US" altLang="en-US" sz="2400"/>
          </a:p>
          <a:p>
            <a:pPr marL="685800" indent="-457200">
              <a:buAutoNum type="arabicPeriod"/>
            </a:pPr>
            <a:endParaRPr lang="en-US" altLang="en-US" sz="2400"/>
          </a:p>
          <a:p>
            <a:pPr marL="685800" indent="-457200">
              <a:buAutoNum type="arabicPeriod"/>
            </a:pPr>
            <a:r>
              <a:rPr lang="en-US" altLang="en-US" sz="2400"/>
              <a:t>Which brands rely more on discounts vs. brand trust to attract customers?</a:t>
            </a:r>
            <a:endParaRPr lang="en-US" altLang="en-US" sz="2400"/>
          </a:p>
          <a:p>
            <a:pPr marL="685800" indent="-457200">
              <a:buAutoNum type="arabicPeriod"/>
            </a:pPr>
            <a:endParaRPr lang="en-US" altLang="en-US" sz="2400"/>
          </a:p>
          <a:p>
            <a:pPr marL="685800" indent="-457200">
              <a:buAutoNum type="arabicPeriod"/>
            </a:pPr>
            <a:r>
              <a:rPr lang="en-US" altLang="en-US" sz="2400"/>
              <a:t>How do ratings vary across brands and price categories?</a:t>
            </a:r>
            <a:endParaRPr lang="en-US" altLang="en-US" sz="2400"/>
          </a:p>
          <a:p>
            <a:pPr marL="685800" indent="-457200">
              <a:buAutoNum type="arabicPeriod"/>
            </a:pPr>
            <a:endParaRPr lang="en-US" altLang="en-US" sz="2400"/>
          </a:p>
          <a:p>
            <a:pPr marL="685800" indent="-457200">
              <a:buAutoNum type="arabicPeriod"/>
            </a:pPr>
            <a:r>
              <a:rPr lang="en-US" altLang="en-US" sz="2400"/>
              <a:t>What pricing and discounting strategies differentiate budget vs. mid-range products?</a:t>
            </a:r>
            <a:endParaRPr lang="en-US" altLang="en-US" sz="2400"/>
          </a:p>
          <a:p>
            <a:pPr marL="685800" indent="-457200">
              <a:buAutoNum type="arabicPeriod"/>
            </a:pPr>
            <a:endParaRPr lang="en-US" altLang="en-US" sz="2400"/>
          </a:p>
          <a:p>
            <a:pPr marL="685800" indent="-457200">
              <a:buAutoNum type="arabicPeriod"/>
            </a:pPr>
            <a:r>
              <a:rPr lang="en-US" altLang="en-US" sz="2400"/>
              <a:t>Which brands cover multiple segments (budget &amp; mid-range), and which are positioned exclusively?</a:t>
            </a:r>
            <a:endParaRPr lang="en-US" altLang="en-US" sz="24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Picture 4"/>
          <p:cNvPicPr>
            <a:picLocks noChangeAspect="1"/>
          </p:cNvPicPr>
          <p:nvPr/>
        </p:nvPicPr>
        <p:blipFill>
          <a:blip r:embed="rId1"/>
          <a:stretch>
            <a:fillRect/>
          </a:stretch>
        </p:blipFill>
        <p:spPr>
          <a:xfrm>
            <a:off x="2258060" y="869315"/>
            <a:ext cx="7647305" cy="465899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840105" y="457200"/>
            <a:ext cx="10709910" cy="1600200"/>
          </a:xfrm>
        </p:spPr>
        <p:txBody>
          <a:bodyPr/>
          <a:p>
            <a:pPr algn="ctr"/>
            <a:r>
              <a:rPr lang="en-US" sz="6000">
                <a:latin typeface="Berlin Sans FB Demi" panose="020E0802020502020306" charset="0"/>
                <a:cs typeface="Berlin Sans FB Demi" panose="020E0802020502020306" charset="0"/>
              </a:rPr>
              <a:t>Conclusion</a:t>
            </a:r>
            <a:endParaRPr lang="en-US" sz="6000">
              <a:latin typeface="Berlin Sans FB Demi" panose="020E0802020502020306" charset="0"/>
              <a:cs typeface="Berlin Sans FB Demi" panose="020E0802020502020306" charset="0"/>
            </a:endParaRPr>
          </a:p>
        </p:txBody>
      </p:sp>
      <p:sp>
        <p:nvSpPr>
          <p:cNvPr id="4" name="Text Placeholder 3"/>
          <p:cNvSpPr/>
          <p:nvPr>
            <p:ph type="body" idx="1"/>
          </p:nvPr>
        </p:nvSpPr>
        <p:spPr>
          <a:xfrm>
            <a:off x="840105" y="2571115"/>
            <a:ext cx="10565130" cy="3298190"/>
          </a:xfrm>
        </p:spPr>
        <p:txBody>
          <a:bodyPr/>
          <a:p>
            <a:pPr marL="514350" indent="-285750">
              <a:buFont typeface="Arial" panose="020B0604020202020204" pitchFamily="34" charset="0"/>
              <a:buChar char="•"/>
            </a:pPr>
            <a:r>
              <a:rPr lang="en-US" altLang="en-US" sz="2400"/>
              <a:t>Strong brands win on trust, not discounts.</a:t>
            </a:r>
            <a:endParaRPr lang="en-US" altLang="en-US" sz="2400"/>
          </a:p>
          <a:p>
            <a:pPr marL="514350" indent="-285750">
              <a:buFont typeface="Arial" panose="020B0604020202020204" pitchFamily="34" charset="0"/>
              <a:buChar char="•"/>
            </a:pPr>
            <a:endParaRPr lang="en-US" altLang="en-US" sz="2400"/>
          </a:p>
          <a:p>
            <a:pPr marL="514350" indent="-285750">
              <a:buFont typeface="Arial" panose="020B0604020202020204" pitchFamily="34" charset="0"/>
              <a:buChar char="•"/>
            </a:pPr>
            <a:r>
              <a:rPr lang="en-US" altLang="en-US" sz="2400"/>
              <a:t>Discounts help budget brands compete but don’t ensure high ratings.</a:t>
            </a:r>
            <a:endParaRPr lang="en-US" altLang="en-US" sz="2400"/>
          </a:p>
          <a:p>
            <a:pPr marL="514350" indent="-285750">
              <a:buFont typeface="Arial" panose="020B0604020202020204" pitchFamily="34" charset="0"/>
              <a:buChar char="•"/>
            </a:pPr>
            <a:endParaRPr lang="en-US" altLang="en-US" sz="2400"/>
          </a:p>
          <a:p>
            <a:pPr marL="514350" indent="-285750">
              <a:buFont typeface="Arial" panose="020B0604020202020204" pitchFamily="34" charset="0"/>
              <a:buChar char="•"/>
            </a:pPr>
            <a:r>
              <a:rPr lang="en-US" altLang="en-US" sz="2400"/>
              <a:t>Segmented pricing strategies allow brands like Vaseline &amp; Wishcare to tap both budget and mid-range markets.</a:t>
            </a:r>
            <a:endParaRPr lang="en-US" altLang="en-US" sz="2400"/>
          </a:p>
        </p:txBody>
      </p:sp>
      <p:sp>
        <p:nvSpPr>
          <p:cNvPr id="5" name="Text Box 4"/>
          <p:cNvSpPr txBox="1"/>
          <p:nvPr/>
        </p:nvSpPr>
        <p:spPr>
          <a:xfrm>
            <a:off x="7223760" y="1684655"/>
            <a:ext cx="4064000" cy="306705"/>
          </a:xfrm>
          <a:prstGeom prst="rect">
            <a:avLst/>
          </a:prstGeom>
          <a:noFill/>
        </p:spPr>
        <p:txBody>
          <a:bodyPr wrap="square" rtlCol="0">
            <a:spAutoFit/>
          </a:bodyPr>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840105" y="90805"/>
            <a:ext cx="10178415" cy="1012190"/>
          </a:xfrm>
        </p:spPr>
        <p:txBody>
          <a:bodyPr/>
          <a:p>
            <a:pPr algn="ctr"/>
            <a:r>
              <a:rPr lang="en-US" altLang="en-US" sz="6600">
                <a:latin typeface="Berlin Sans FB Demi" panose="020E0802020502020306" charset="0"/>
                <a:cs typeface="Berlin Sans FB Demi" panose="020E0802020502020306" charset="0"/>
              </a:rPr>
              <a:t>Experience</a:t>
            </a:r>
            <a:endParaRPr lang="en-US" altLang="en-US" sz="6600">
              <a:latin typeface="Berlin Sans FB Demi" panose="020E0802020502020306" charset="0"/>
              <a:cs typeface="Berlin Sans FB Demi" panose="020E0802020502020306" charset="0"/>
            </a:endParaRPr>
          </a:p>
        </p:txBody>
      </p:sp>
      <p:sp>
        <p:nvSpPr>
          <p:cNvPr id="4" name="Text Placeholder 3"/>
          <p:cNvSpPr/>
          <p:nvPr>
            <p:ph type="body" idx="1"/>
          </p:nvPr>
        </p:nvSpPr>
        <p:spPr>
          <a:xfrm>
            <a:off x="623570" y="1276350"/>
            <a:ext cx="10395585" cy="4881880"/>
          </a:xfrm>
        </p:spPr>
        <p:txBody>
          <a:bodyPr/>
          <a:p>
            <a:pPr marL="514350" indent="-285750">
              <a:buFont typeface="Arial" panose="020B0604020202020204" pitchFamily="34" charset="0"/>
              <a:buChar char="•"/>
            </a:pPr>
            <a:r>
              <a:rPr lang="en-US" altLang="en-US" sz="2400"/>
              <a:t>Learned to collect real-world product data (price, discount, brand, ratings) using web scraping techniques.</a:t>
            </a:r>
            <a:endParaRPr lang="en-US" altLang="en-US" sz="2400"/>
          </a:p>
          <a:p>
            <a:pPr marL="514350" indent="-285750">
              <a:buFont typeface="Arial" panose="020B0604020202020204" pitchFamily="34" charset="0"/>
              <a:buChar char="•"/>
            </a:pPr>
            <a:endParaRPr lang="en-US" altLang="en-US" sz="2400"/>
          </a:p>
          <a:p>
            <a:pPr marL="514350" indent="-285750">
              <a:buFont typeface="Arial" panose="020B0604020202020204" pitchFamily="34" charset="0"/>
              <a:buChar char="•"/>
            </a:pPr>
            <a:r>
              <a:rPr lang="en-US" altLang="en-US" sz="2400"/>
              <a:t>Understood how to clean raw data (removing symbols like ₹, %, handling missing values, formatting columns).</a:t>
            </a:r>
            <a:endParaRPr lang="en-US" altLang="en-US" sz="2400"/>
          </a:p>
          <a:p>
            <a:pPr marL="514350" indent="-285750">
              <a:buFont typeface="Arial" panose="020B0604020202020204" pitchFamily="34" charset="0"/>
              <a:buChar char="•"/>
            </a:pPr>
            <a:endParaRPr lang="en-US" altLang="en-US" sz="2400"/>
          </a:p>
          <a:p>
            <a:pPr marL="514350" indent="-285750">
              <a:buFont typeface="Arial" panose="020B0604020202020204" pitchFamily="34" charset="0"/>
              <a:buChar char="•"/>
            </a:pPr>
            <a:r>
              <a:rPr lang="en-US" altLang="en-US" sz="2400"/>
              <a:t>Applied EDA (Exploratory Data Analysis): univariate, bivariate, multivariate analysis with plots (boxplots, scatter plots, heatmaps, bar charts).</a:t>
            </a:r>
            <a:endParaRPr lang="en-US" altLang="en-US" sz="2400"/>
          </a:p>
          <a:p>
            <a:pPr marL="514350" indent="-285750">
              <a:buFont typeface="Arial" panose="020B0604020202020204" pitchFamily="34" charset="0"/>
              <a:buChar char="•"/>
            </a:pPr>
            <a:endParaRPr lang="en-US" altLang="en-US" sz="2400"/>
          </a:p>
          <a:p>
            <a:pPr marL="514350" indent="-285750">
              <a:buFont typeface="Arial" panose="020B0604020202020204" pitchFamily="34" charset="0"/>
              <a:buChar char="•"/>
            </a:pPr>
            <a:r>
              <a:rPr lang="en-US" altLang="en-US" sz="2400"/>
              <a:t>Improved Python, Pandas, Matplotlib, Seaborn skills for analysis and visualization.</a:t>
            </a:r>
            <a:endParaRPr lang="en-US" alt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840105" y="457200"/>
            <a:ext cx="10263505" cy="1063625"/>
          </a:xfrm>
        </p:spPr>
        <p:txBody>
          <a:bodyPr/>
          <a:p>
            <a:pPr algn="ctr"/>
            <a:r>
              <a:rPr lang="en-US" altLang="en-US" sz="6000">
                <a:latin typeface="Berlin Sans FB Demi" panose="020E0802020502020306" charset="0"/>
                <a:cs typeface="Berlin Sans FB Demi" panose="020E0802020502020306" charset="0"/>
              </a:rPr>
              <a:t>Challenges</a:t>
            </a:r>
            <a:endParaRPr lang="en-US" altLang="en-US" sz="6000">
              <a:latin typeface="Berlin Sans FB Demi" panose="020E0802020502020306" charset="0"/>
              <a:cs typeface="Berlin Sans FB Demi" panose="020E0802020502020306" charset="0"/>
            </a:endParaRPr>
          </a:p>
        </p:txBody>
      </p:sp>
      <p:sp>
        <p:nvSpPr>
          <p:cNvPr id="4" name="Text Placeholder 3"/>
          <p:cNvSpPr/>
          <p:nvPr>
            <p:ph type="body" idx="1"/>
          </p:nvPr>
        </p:nvSpPr>
        <p:spPr>
          <a:xfrm>
            <a:off x="840105" y="2057400"/>
            <a:ext cx="10263505" cy="3540760"/>
          </a:xfrm>
        </p:spPr>
        <p:txBody>
          <a:bodyPr/>
          <a:p>
            <a:pPr marL="514350" indent="-285750">
              <a:buFont typeface="Arial" panose="020B0604020202020204" pitchFamily="34" charset="0"/>
              <a:buChar char="•"/>
            </a:pPr>
            <a:r>
              <a:rPr lang="en-US" altLang="en-US" sz="2400"/>
              <a:t>Avoiding duplicate/blank values in scraped data.</a:t>
            </a:r>
            <a:endParaRPr lang="en-US" altLang="en-US" sz="2400"/>
          </a:p>
          <a:p>
            <a:pPr marL="514350" indent="-285750">
              <a:buFont typeface="Arial" panose="020B0604020202020204" pitchFamily="34" charset="0"/>
              <a:buChar char="•"/>
            </a:pPr>
            <a:r>
              <a:rPr lang="en-US" altLang="en-US" sz="2400"/>
              <a:t>Dealing with HTML tag changes which broke extraction scripts.</a:t>
            </a:r>
            <a:endParaRPr lang="en-US" altLang="en-US" sz="2400"/>
          </a:p>
          <a:p>
            <a:pPr marL="514350" indent="-285750">
              <a:buFont typeface="Arial" panose="020B0604020202020204" pitchFamily="34" charset="0"/>
              <a:buChar char="•"/>
            </a:pPr>
            <a:r>
              <a:rPr lang="en-US" altLang="en-US" sz="2400"/>
              <a:t>Removing unwanted text (e.g., “₹”, “% off”, brackets in ratings).</a:t>
            </a:r>
            <a:endParaRPr lang="en-US" altLang="en-US" sz="2400"/>
          </a:p>
          <a:p>
            <a:pPr marL="514350" indent="-285750">
              <a:buFont typeface="Arial" panose="020B0604020202020204" pitchFamily="34" charset="0"/>
              <a:buChar char="•"/>
            </a:pPr>
            <a:r>
              <a:rPr lang="en-US" altLang="en-US" sz="2400"/>
              <a:t>Converting data types (strings → numeric) for calculations.</a:t>
            </a:r>
            <a:endParaRPr lang="en-US" altLang="en-US" sz="2400"/>
          </a:p>
          <a:p>
            <a:pPr marL="514350" indent="-285750">
              <a:buFont typeface="Arial" panose="020B0604020202020204" pitchFamily="34" charset="0"/>
              <a:buChar char="•"/>
            </a:pPr>
            <a:r>
              <a:rPr lang="en-US" altLang="en-US" sz="2400"/>
              <a:t>Handling missing / inconsistent data across brands.</a:t>
            </a:r>
            <a:endParaRPr lang="en-US" altLang="en-US" sz="2400"/>
          </a:p>
          <a:p>
            <a:pPr marL="514350" indent="-285750">
              <a:buFont typeface="Arial" panose="020B0604020202020204" pitchFamily="34" charset="0"/>
              <a:buChar char="•"/>
            </a:pPr>
            <a:r>
              <a:rPr lang="en-US" altLang="en-US" sz="2400"/>
              <a:t>Choosing the right plots to represent patterns clearly.</a:t>
            </a:r>
            <a:endParaRPr lang="en-US" altLang="en-US"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panose="02000000000000000000"/>
              <a:buNone/>
            </a:pPr>
            <a:r>
              <a:rPr lang="en-IN" sz="4400" b="0" i="0" u="none" strike="noStrike" cap="none">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5051</Words>
  <Application>WPS Presentation</Application>
  <PresentationFormat/>
  <Paragraphs>175</Paragraphs>
  <Slides>25</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25</vt:i4>
      </vt:variant>
    </vt:vector>
  </HeadingPairs>
  <TitlesOfParts>
    <vt:vector size="44" baseType="lpstr">
      <vt:lpstr>Arial</vt:lpstr>
      <vt:lpstr>SimSun</vt:lpstr>
      <vt:lpstr>Wingdings</vt:lpstr>
      <vt:lpstr>Arial</vt:lpstr>
      <vt:lpstr>Calibri</vt:lpstr>
      <vt:lpstr>Lato Black</vt:lpstr>
      <vt:lpstr>Berlin Sans FB Demi</vt:lpstr>
      <vt:lpstr>Bodoni MT Black</vt:lpstr>
      <vt:lpstr>Microsoft YaHei</vt:lpstr>
      <vt:lpstr>Arial Unicode MS</vt:lpstr>
      <vt:lpstr>Libre Baskerville</vt:lpstr>
      <vt:lpstr>Broadway</vt:lpstr>
      <vt:lpstr>Berlin Sans FB</vt:lpstr>
      <vt:lpstr>Calibri</vt:lpstr>
      <vt:lpstr>Algerian</vt:lpstr>
      <vt:lpstr>Arial Rounded MT Bold</vt:lpstr>
      <vt:lpstr>Bahnschrift Light Condensed</vt:lpstr>
      <vt:lpstr>Bahnschrift SemiBold SemiCondensed</vt:lpstr>
      <vt:lpstr>Gear Drives</vt:lpstr>
      <vt:lpstr>PowerPoint 演示文稿</vt:lpstr>
      <vt:lpstr>PowerPoint 演示文稿</vt:lpstr>
      <vt:lpstr>Problem Statement</vt:lpstr>
      <vt:lpstr>Objective of the Project</vt:lpstr>
      <vt:lpstr>Web Scraping (Details)</vt:lpstr>
      <vt:lpstr>Summary of the Data</vt:lpstr>
      <vt:lpstr>Data Cleaning</vt:lpstr>
      <vt:lpstr>Data Manipulation</vt:lpstr>
      <vt:lpstr>Univariate Analysis</vt:lpstr>
      <vt:lpstr>PowerPoint 演示文稿</vt:lpstr>
      <vt:lpstr>PowerPoint 演示文稿</vt:lpstr>
      <vt:lpstr>PowerPoint 演示文稿</vt:lpstr>
      <vt:lpstr>PowerPoint 演示文稿</vt:lpstr>
      <vt:lpstr>PowerPoint 演示文稿</vt:lpstr>
      <vt:lpstr>Bivariate Analysis</vt:lpstr>
      <vt:lpstr>PowerPoint 演示文稿</vt:lpstr>
      <vt:lpstr>PowerPoint 演示文稿</vt:lpstr>
      <vt:lpstr>PowerPoint 演示文稿</vt:lpstr>
      <vt:lpstr>PowerPoint 演示文稿</vt:lpstr>
      <vt:lpstr>KEY BUSINESS QUESTIONS</vt:lpstr>
      <vt:lpstr>PowerPoint 演示文稿</vt:lpstr>
      <vt:lpstr>Conclusion</vt:lpstr>
      <vt:lpstr>Experience</vt:lpstr>
      <vt:lpstr>Challenges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DELL</cp:lastModifiedBy>
  <cp:revision>10</cp:revision>
  <dcterms:created xsi:type="dcterms:W3CDTF">2025-08-26T17:16:00Z</dcterms:created>
  <dcterms:modified xsi:type="dcterms:W3CDTF">2025-09-19T11:09:12Z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FBE75ADFD6C244549513194671EB130B_13</vt:lpwstr>
  </property>
  <property fmtid="{D5CDD505-2E9C-101B-9397-08002B2CF9AE}" pid="3" name="KSOProductBuildVer">
    <vt:lpwstr>1033-12.2.0.21931</vt:lpwstr>
  </property>
</Properties>
</file>